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DM Sans SemiBold"/>
      <p:regular r:id="rId201314"/>
    </p:embeddedFont>
    <p:embeddedFont>
      <p:font typeface="Inter Medium"/>
      <p:regular r:id="rId201315"/>
    </p:embeddedFont>
    <p:embeddedFont>
      <p:font typeface="Inter SemiBold"/>
      <p:regular r:id="rId201316"/>
    </p:embeddedFont>
    <p:embeddedFont>
      <p:font typeface="Inter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image" Target="../media/image-4-4.jpeg"/><Relationship Id="rId5" Type="http://schemas.openxmlformats.org/officeDocument/2006/relationships/image" Target="../media/image-4-5.jpe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7518212" cy="6858000"/>
          </a:xfrm>
          <a:prstGeom prst="rect">
            <a:avLst/>
          </a:prstGeom>
          <a:solidFill>
            <a:srgbClr val="102A43"/>
          </a:solidFill>
          <a:ln/>
        </p:spPr>
      </p:sp>
      <p:sp>
        <p:nvSpPr>
          <p:cNvPr id="3" name="Text 1"/>
          <p:cNvSpPr/>
          <p:nvPr/>
        </p:nvSpPr>
        <p:spPr>
          <a:xfrm>
            <a:off x="558786" y="529828"/>
            <a:ext cx="6553036" cy="1709440"/>
          </a:xfrm>
          <a:prstGeom prst="rect">
            <a:avLst/>
          </a:prstGeom>
          <a:noFill/>
          <a:ln/>
        </p:spPr>
        <p:txBody>
          <a:bodyPr wrap="square" lIns="0" tIns="0" rIns="0" bIns="0" rtlCol="0" anchor="t">
            <a:normAutofit/>
          </a:bodyPr>
          <a:lstStyle/>
          <a:p>
            <a:pPr algn="l" indent="0" marL="0">
              <a:lnSpc>
                <a:spcPct val="104000"/>
              </a:lnSpc>
              <a:buNone/>
            </a:pPr>
            <a:r>
              <a:rPr lang="en-US" sz="3600" dirty="0">
                <a:solidFill>
                  <a:srgbClr val="FFFFFF"/>
                </a:solidFill>
                <a:latin typeface="DM Sans SemiBold" pitchFamily="34" charset="0"/>
                <a:ea typeface="DM Sans SemiBold" pitchFamily="34" charset="-122"/>
                <a:cs typeface="DM Sans SemiBold" pitchFamily="34" charset="-120"/>
              </a:rPr>
              <a:t>AI-Based Smart Waste Management and Recycling Prediction System</a:t>
            </a:r>
            <a:endParaRPr lang="en-US" sz="3600" dirty="0"/>
          </a:p>
        </p:txBody>
      </p:sp>
      <p:sp>
        <p:nvSpPr>
          <p:cNvPr id="4" name="Text 2"/>
          <p:cNvSpPr/>
          <p:nvPr/>
        </p:nvSpPr>
        <p:spPr>
          <a:xfrm>
            <a:off x="558786" y="2470944"/>
            <a:ext cx="6553036" cy="3444875"/>
          </a:xfrm>
          <a:prstGeom prst="rect">
            <a:avLst/>
          </a:prstGeom>
          <a:noFill/>
          <a:ln/>
        </p:spPr>
        <p:txBody>
          <a:bodyPr wrap="square" lIns="0" tIns="0" rIns="0" bIns="0" rtlCol="0" anchor="t">
            <a:normAutofit/>
          </a:bodyPr>
          <a:lstStyle/>
          <a:p>
            <a:pPr algn="l" indent="0" marL="0">
              <a:lnSpc>
                <a:spcPct val="104000"/>
              </a:lnSpc>
              <a:buNone/>
            </a:pPr>
            <a:r>
              <a:rPr lang="en-US" sz="1400" dirty="0">
                <a:solidFill>
                  <a:srgbClr val="FFFFFF"/>
                </a:solidFill>
                <a:latin typeface="Inter Medium" pitchFamily="34" charset="0"/>
                <a:ea typeface="Inter Medium" pitchFamily="34" charset="-122"/>
                <a:cs typeface="Inter Medium" pitchFamily="34" charset="-120"/>
              </a:rPr>
              <a:t>K V Pavan Kalyan — Model Development</a:t>
            </a:r>
            <a:endParaRPr lang="en-US" sz="1400" dirty="0"/>
          </a:p>
          <a:p>
            <a:pPr algn="l" indent="0" marL="0">
              <a:lnSpc>
                <a:spcPct val="104000"/>
              </a:lnSpc>
              <a:buNone/>
            </a:pPr>
            <a:r>
              <a:rPr lang="en-US" sz="1400" dirty="0">
                <a:solidFill>
                  <a:srgbClr val="FFFFFF"/>
                </a:solidFill>
                <a:latin typeface="Inter Medium" pitchFamily="34" charset="0"/>
                <a:ea typeface="Inter Medium" pitchFamily="34" charset="-122"/>
                <a:cs typeface="Inter Medium" pitchFamily="34" charset="-120"/>
              </a:rPr>
              <a:t>K Phani Bhushan — Data Collection &amp; Preprocessing</a:t>
            </a:r>
            <a:endParaRPr lang="en-US" sz="1400" dirty="0"/>
          </a:p>
          <a:p>
            <a:pPr algn="l" indent="0" marL="0">
              <a:lnSpc>
                <a:spcPct val="104000"/>
              </a:lnSpc>
              <a:buNone/>
            </a:pPr>
            <a:r>
              <a:rPr lang="en-US" sz="1400" dirty="0">
                <a:solidFill>
                  <a:srgbClr val="FFFFFF"/>
                </a:solidFill>
                <a:latin typeface="Inter Medium" pitchFamily="34" charset="0"/>
                <a:ea typeface="Inter Medium" pitchFamily="34" charset="-122"/>
                <a:cs typeface="Inter Medium" pitchFamily="34" charset="-120"/>
              </a:rPr>
              <a:t>I Lakshmi — Model Evaluation</a:t>
            </a:r>
            <a:endParaRPr lang="en-US" sz="1400" dirty="0"/>
          </a:p>
          <a:p>
            <a:pPr algn="l" indent="0" marL="0">
              <a:lnSpc>
                <a:spcPct val="104000"/>
              </a:lnSpc>
              <a:spcAft>
                <a:spcPts val="1550"/>
              </a:spcAft>
              <a:buNone/>
            </a:pPr>
            <a:r>
              <a:rPr lang="en-US" sz="1400" dirty="0">
                <a:solidFill>
                  <a:srgbClr val="FFFFFF"/>
                </a:solidFill>
                <a:latin typeface="Inter Medium" pitchFamily="34" charset="0"/>
                <a:ea typeface="Inter Medium" pitchFamily="34" charset="-122"/>
                <a:cs typeface="Inter Medium" pitchFamily="34" charset="-120"/>
              </a:rPr>
              <a:t>K Leela Prasanth — Frontend</a:t>
            </a:r>
            <a:endParaRPr lang="en-US" sz="1400" dirty="0"/>
          </a:p>
          <a:p>
            <a:pPr algn="l" indent="0" marL="0">
              <a:lnSpc>
                <a:spcPct val="104000"/>
              </a:lnSpc>
              <a:spcAft>
                <a:spcPts val="1550"/>
              </a:spcAft>
              <a:buNone/>
            </a:pPr>
            <a:endParaRPr lang="en-US" sz="1400" dirty="0"/>
          </a:p>
          <a:p>
            <a:pPr algn="l" indent="0" marL="0">
              <a:lnSpc>
                <a:spcPct val="104000"/>
              </a:lnSpc>
              <a:spcAft>
                <a:spcPts val="1550"/>
              </a:spcAft>
              <a:buNone/>
            </a:pPr>
            <a:endParaRPr lang="en-US" sz="1400" dirty="0"/>
          </a:p>
          <a:p>
            <a:pPr algn="l" indent="0" marL="0">
              <a:lnSpc>
                <a:spcPct val="104000"/>
              </a:lnSpc>
              <a:spcAft>
                <a:spcPts val="1550"/>
              </a:spcAft>
              <a:buNone/>
            </a:pPr>
            <a:endParaRPr lang="en-US" sz="1400" dirty="0"/>
          </a:p>
          <a:p>
            <a:pPr algn="l" indent="0" marL="0">
              <a:lnSpc>
                <a:spcPct val="104000"/>
              </a:lnSpc>
              <a:spcAft>
                <a:spcPts val="1550"/>
              </a:spcAft>
              <a:buNone/>
            </a:pPr>
            <a:endParaRPr lang="en-US" sz="1400" dirty="0"/>
          </a:p>
          <a:p>
            <a:pPr algn="l" indent="0" marL="0">
              <a:lnSpc>
                <a:spcPct val="104000"/>
              </a:lnSpc>
              <a:buNone/>
            </a:pPr>
            <a:r>
              <a:rPr lang="en-US" sz="1400" dirty="0">
                <a:solidFill>
                  <a:srgbClr val="FFFFFF"/>
                </a:solidFill>
                <a:latin typeface="Inter Medium" pitchFamily="34" charset="0"/>
                <a:ea typeface="Inter Medium" pitchFamily="34" charset="-122"/>
                <a:cs typeface="Inter Medium" pitchFamily="34" charset="-120"/>
              </a:rPr>
              <a:t>Prasad V. Potluri Siddartha Institute of Technology · Computer Science and Engineering (CSE)</a:t>
            </a:r>
            <a:endParaRPr lang="en-US" sz="1400" dirty="0"/>
          </a:p>
        </p:txBody>
      </p:sp>
      <p:pic>
        <p:nvPicPr>
          <p:cNvPr id="5" name="Image 0" descr="preencoded.png">    </p:cNvPr>
          <p:cNvPicPr>
            <a:picLocks noChangeAspect="1"/>
          </p:cNvPicPr>
          <p:nvPr/>
        </p:nvPicPr>
        <p:blipFill>
          <a:blip r:embed="rId1"/>
          <a:stretch>
            <a:fillRect/>
          </a:stretch>
        </p:blipFill>
        <p:spPr>
          <a:xfrm>
            <a:off x="7518212" y="0"/>
            <a:ext cx="4673483"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2098278"/>
          </a:xfrm>
          <a:prstGeom prst="rect">
            <a:avLst/>
          </a:prstGeom>
          <a:solidFill>
            <a:srgbClr val="0D9488"/>
          </a:solidFill>
          <a:ln/>
        </p:spPr>
      </p:sp>
      <p:sp>
        <p:nvSpPr>
          <p:cNvPr id="3" name="Text 1"/>
          <p:cNvSpPr/>
          <p:nvPr/>
        </p:nvSpPr>
        <p:spPr>
          <a:xfrm>
            <a:off x="152396" y="162322"/>
            <a:ext cx="11886903" cy="569813"/>
          </a:xfrm>
          <a:prstGeom prst="rect">
            <a:avLst/>
          </a:prstGeom>
          <a:noFill/>
          <a:ln/>
        </p:spPr>
        <p:txBody>
          <a:bodyPr wrap="none" lIns="0" tIns="0" rIns="0" bIns="0" rtlCol="0" anchor="t"/>
          <a:lstStyle/>
          <a:p>
            <a:pPr algn="l" indent="0" marL="0">
              <a:lnSpc>
                <a:spcPct val="104000"/>
              </a:lnSpc>
              <a:buNone/>
            </a:pPr>
            <a:r>
              <a:rPr lang="en-US" sz="3600" dirty="0">
                <a:solidFill>
                  <a:srgbClr val="FFFFFF"/>
                </a:solidFill>
                <a:latin typeface="DM Sans SemiBold" pitchFamily="34" charset="0"/>
                <a:ea typeface="DM Sans SemiBold" pitchFamily="34" charset="-122"/>
                <a:cs typeface="DM Sans SemiBold" pitchFamily="34" charset="-120"/>
              </a:rPr>
              <a:t>Problem Statement</a:t>
            </a:r>
            <a:endParaRPr lang="en-US" sz="3600" dirty="0"/>
          </a:p>
        </p:txBody>
      </p:sp>
      <p:sp>
        <p:nvSpPr>
          <p:cNvPr id="4" name="Shape 2"/>
          <p:cNvSpPr/>
          <p:nvPr/>
        </p:nvSpPr>
        <p:spPr>
          <a:xfrm>
            <a:off x="609585" y="3209528"/>
            <a:ext cx="3620798" cy="38100"/>
          </a:xfrm>
          <a:prstGeom prst="roundRect">
            <a:avLst>
              <a:gd name="adj" fmla="val 49999"/>
            </a:avLst>
          </a:prstGeom>
          <a:solidFill>
            <a:srgbClr val="2D7A3E"/>
          </a:solidFill>
          <a:ln/>
        </p:spPr>
      </p:sp>
      <p:sp>
        <p:nvSpPr>
          <p:cNvPr id="5" name="Text 3"/>
          <p:cNvSpPr/>
          <p:nvPr/>
        </p:nvSpPr>
        <p:spPr>
          <a:xfrm>
            <a:off x="609585" y="3498453"/>
            <a:ext cx="10972526" cy="666750"/>
          </a:xfrm>
          <a:prstGeom prst="rect">
            <a:avLst/>
          </a:prstGeom>
          <a:noFill/>
          <a:ln/>
        </p:spPr>
        <p:txBody>
          <a:bodyPr wrap="square" lIns="0" tIns="0" rIns="0" bIns="0" rtlCol="0" anchor="t">
            <a:normAutofit/>
          </a:bodyPr>
          <a:lstStyle/>
          <a:p>
            <a:pPr algn="l" indent="0" marL="0">
              <a:lnSpc>
                <a:spcPct val="104000"/>
              </a:lnSpc>
              <a:buNone/>
            </a:pPr>
            <a:r>
              <a:rPr lang="en-US" sz="1400" dirty="0">
                <a:solidFill>
                  <a:srgbClr val="464646"/>
                </a:solidFill>
                <a:latin typeface="Inter Medium" pitchFamily="34" charset="0"/>
                <a:ea typeface="Inter Medium" pitchFamily="34" charset="-122"/>
                <a:cs typeface="Inter Medium" pitchFamily="34" charset="-120"/>
              </a:rPr>
              <a:t>Traditional waste management systems often rely on manual data collection and basic estimation methods, making it difficult to accurately predict daily waste generation and recycling rates. This can lead to inefficient waste collection, poor recycling planning, increased landfill usage, and improper allocation of resources.</a:t>
            </a:r>
            <a:endParaRPr lang="en-US" sz="1400" dirty="0"/>
          </a:p>
        </p:txBody>
      </p:sp>
      <p:sp>
        <p:nvSpPr>
          <p:cNvPr id="6" name="Text 4"/>
          <p:cNvSpPr/>
          <p:nvPr/>
        </p:nvSpPr>
        <p:spPr>
          <a:xfrm>
            <a:off x="609585" y="4568031"/>
            <a:ext cx="10972526" cy="420688"/>
          </a:xfrm>
          <a:prstGeom prst="rect">
            <a:avLst/>
          </a:prstGeom>
          <a:noFill/>
          <a:ln/>
        </p:spPr>
        <p:txBody>
          <a:bodyPr wrap="none" lIns="0" tIns="0" rIns="0" bIns="0" rtlCol="0" anchor="t"/>
          <a:lstStyle/>
          <a:p>
            <a:pPr algn="l" indent="0" marL="0">
              <a:lnSpc>
                <a:spcPct val="104000"/>
              </a:lnSpc>
              <a:buNone/>
            </a:pPr>
            <a:r>
              <a:rPr lang="en-US" sz="2650" dirty="0">
                <a:solidFill>
                  <a:srgbClr val="030303"/>
                </a:solidFill>
                <a:latin typeface="DM Sans SemiBold" pitchFamily="34" charset="0"/>
                <a:ea typeface="DM Sans SemiBold" pitchFamily="34" charset="-122"/>
                <a:cs typeface="DM Sans SemiBold" pitchFamily="34" charset="-120"/>
              </a:rPr>
              <a:t>Objectives</a:t>
            </a:r>
            <a:endParaRPr lang="en-US" sz="2650" dirty="0"/>
          </a:p>
        </p:txBody>
      </p:sp>
      <p:sp>
        <p:nvSpPr>
          <p:cNvPr id="7" name="Text 5"/>
          <p:cNvSpPr/>
          <p:nvPr/>
        </p:nvSpPr>
        <p:spPr>
          <a:xfrm>
            <a:off x="609585" y="5179616"/>
            <a:ext cx="10972526" cy="1068784"/>
          </a:xfrm>
          <a:prstGeom prst="rect">
            <a:avLst/>
          </a:prstGeom>
          <a:noFill/>
          <a:ln/>
        </p:spPr>
        <p:txBody>
          <a:bodyPr wrap="square" lIns="0" tIns="0" rIns="0" bIns="0" rtlCol="0" anchor="t">
            <a:normAutofit/>
          </a:bodyPr>
          <a:lstStyle/>
          <a:p>
            <a:pPr algn="l" marL="284480" indent="-284480">
              <a:lnSpc>
                <a:spcPct val="104000"/>
              </a:lnSpc>
              <a:buSzPct val="100000"/>
              <a:buChar char="•"/>
            </a:pPr>
            <a:r>
              <a:rPr lang="en-US" sz="1400" dirty="0">
                <a:solidFill>
                  <a:srgbClr val="464646"/>
                </a:solidFill>
                <a:latin typeface="Inter Medium" pitchFamily="34" charset="0"/>
                <a:ea typeface="Inter Medium" pitchFamily="34" charset="-122"/>
                <a:cs typeface="Inter Medium" pitchFamily="34" charset="-120"/>
              </a:rPr>
              <a:t>Predict daily waste generation</a:t>
            </a:r>
            <a:endParaRPr lang="en-US" sz="1400" dirty="0"/>
          </a:p>
          <a:p>
            <a:pPr algn="l" marL="284480" indent="-284480">
              <a:lnSpc>
                <a:spcPct val="104000"/>
              </a:lnSpc>
              <a:buSzPct val="100000"/>
              <a:buChar char="•"/>
            </a:pPr>
            <a:r>
              <a:rPr lang="en-US" sz="1400" dirty="0">
                <a:solidFill>
                  <a:srgbClr val="464646"/>
                </a:solidFill>
                <a:latin typeface="Inter Medium" pitchFamily="34" charset="0"/>
                <a:ea typeface="Inter Medium" pitchFamily="34" charset="-122"/>
                <a:cs typeface="Inter Medium" pitchFamily="34" charset="-120"/>
              </a:rPr>
              <a:t>Estimate recycling rates and recyclable/residual waste</a:t>
            </a:r>
            <a:endParaRPr lang="en-US" sz="1400" dirty="0"/>
          </a:p>
          <a:p>
            <a:pPr algn="l" marL="284480" indent="-284480">
              <a:lnSpc>
                <a:spcPct val="104000"/>
              </a:lnSpc>
              <a:buSzPct val="100000"/>
              <a:buChar char="•"/>
            </a:pPr>
            <a:r>
              <a:rPr lang="en-US" sz="1400" dirty="0">
                <a:solidFill>
                  <a:srgbClr val="464646"/>
                </a:solidFill>
                <a:latin typeface="Inter Medium" pitchFamily="34" charset="0"/>
                <a:ea typeface="Inter Medium" pitchFamily="34" charset="-122"/>
                <a:cs typeface="Inter Medium" pitchFamily="34" charset="-120"/>
              </a:rPr>
              <a:t>Analyze patterns by state, city, waste type, and season</a:t>
            </a:r>
            <a:endParaRPr lang="en-US" sz="1400" dirty="0"/>
          </a:p>
          <a:p>
            <a:pPr algn="l" marL="284480" indent="-284480">
              <a:lnSpc>
                <a:spcPct val="104000"/>
              </a:lnSpc>
              <a:buSzPct val="100000"/>
              <a:buChar char="•"/>
            </a:pPr>
            <a:r>
              <a:rPr lang="en-US" sz="1400" dirty="0">
                <a:solidFill>
                  <a:srgbClr val="464646"/>
                </a:solidFill>
                <a:latin typeface="Inter Medium" pitchFamily="34" charset="0"/>
                <a:ea typeface="Inter Medium" pitchFamily="34" charset="-122"/>
                <a:cs typeface="Inter Medium" pitchFamily="34" charset="-120"/>
              </a:rPr>
              <a:t>Support municipalities and recycling centers with data-driven decision support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3276600"/>
          </a:xfrm>
          <a:prstGeom prst="rect">
            <a:avLst/>
          </a:prstGeom>
          <a:solidFill>
            <a:srgbClr val="0D9488"/>
          </a:solidFill>
          <a:ln/>
        </p:spPr>
      </p:sp>
      <p:sp>
        <p:nvSpPr>
          <p:cNvPr id="3" name="Text 1"/>
          <p:cNvSpPr/>
          <p:nvPr/>
        </p:nvSpPr>
        <p:spPr>
          <a:xfrm>
            <a:off x="152396" y="1363266"/>
            <a:ext cx="11886903" cy="569813"/>
          </a:xfrm>
          <a:prstGeom prst="rect">
            <a:avLst/>
          </a:prstGeom>
          <a:noFill/>
          <a:ln/>
        </p:spPr>
        <p:txBody>
          <a:bodyPr wrap="none" lIns="0" tIns="0" rIns="0" bIns="0" rtlCol="0" anchor="t"/>
          <a:lstStyle/>
          <a:p>
            <a:pPr algn="l" indent="0" marL="0">
              <a:lnSpc>
                <a:spcPct val="104000"/>
              </a:lnSpc>
              <a:buNone/>
            </a:pPr>
            <a:r>
              <a:rPr lang="en-US" sz="3600" dirty="0">
                <a:solidFill>
                  <a:srgbClr val="FFFFFF"/>
                </a:solidFill>
                <a:latin typeface="DM Sans SemiBold" pitchFamily="34" charset="0"/>
                <a:ea typeface="DM Sans SemiBold" pitchFamily="34" charset="-122"/>
                <a:cs typeface="DM Sans SemiBold" pitchFamily="34" charset="-120"/>
              </a:rPr>
              <a:t>Existing system vs proposed system</a:t>
            </a:r>
            <a:endParaRPr lang="en-US" sz="3600" dirty="0"/>
          </a:p>
        </p:txBody>
      </p:sp>
      <p:sp>
        <p:nvSpPr>
          <p:cNvPr id="4" name="Shape 2"/>
          <p:cNvSpPr/>
          <p:nvPr/>
        </p:nvSpPr>
        <p:spPr>
          <a:xfrm>
            <a:off x="0" y="3581400"/>
            <a:ext cx="5943451" cy="3276600"/>
          </a:xfrm>
          <a:prstGeom prst="rect">
            <a:avLst/>
          </a:prstGeom>
          <a:solidFill>
            <a:srgbClr val="475569"/>
          </a:solidFill>
          <a:ln/>
        </p:spPr>
      </p:sp>
      <p:sp>
        <p:nvSpPr>
          <p:cNvPr id="5" name="Text 3"/>
          <p:cNvSpPr/>
          <p:nvPr/>
        </p:nvSpPr>
        <p:spPr>
          <a:xfrm>
            <a:off x="152396" y="4414044"/>
            <a:ext cx="5638659" cy="420688"/>
          </a:xfrm>
          <a:prstGeom prst="rect">
            <a:avLst/>
          </a:prstGeom>
          <a:noFill/>
          <a:ln/>
        </p:spPr>
        <p:txBody>
          <a:bodyPr wrap="none" lIns="0" tIns="0" rIns="0" bIns="0" rtlCol="0" anchor="t"/>
          <a:lstStyle/>
          <a:p>
            <a:pPr algn="l" indent="0" marL="0">
              <a:lnSpc>
                <a:spcPct val="104000"/>
              </a:lnSpc>
              <a:buNone/>
            </a:pPr>
            <a:r>
              <a:rPr lang="en-US" sz="2650" dirty="0">
                <a:solidFill>
                  <a:srgbClr val="FFFFFF"/>
                </a:solidFill>
                <a:latin typeface="DM Sans SemiBold" pitchFamily="34" charset="0"/>
                <a:ea typeface="DM Sans SemiBold" pitchFamily="34" charset="-122"/>
                <a:cs typeface="DM Sans SemiBold" pitchFamily="34" charset="-120"/>
              </a:rPr>
              <a:t>Existing system</a:t>
            </a:r>
            <a:endParaRPr lang="en-US" sz="2650" dirty="0"/>
          </a:p>
        </p:txBody>
      </p:sp>
      <p:sp>
        <p:nvSpPr>
          <p:cNvPr id="6" name="Text 4"/>
          <p:cNvSpPr/>
          <p:nvPr/>
        </p:nvSpPr>
        <p:spPr>
          <a:xfrm>
            <a:off x="152396" y="5025628"/>
            <a:ext cx="5638659" cy="1008856"/>
          </a:xfrm>
          <a:prstGeom prst="rect">
            <a:avLst/>
          </a:prstGeom>
          <a:noFill/>
          <a:ln/>
        </p:spPr>
        <p:txBody>
          <a:bodyPr wrap="square" lIns="0" tIns="0" rIns="0" bIns="0" rtlCol="0" anchor="t">
            <a:normAutofit/>
          </a:bodyPr>
          <a:lstStyle/>
          <a:p>
            <a:pPr algn="l" marL="284480" indent="-284480">
              <a:lnSpc>
                <a:spcPct val="104000"/>
              </a:lnSpc>
              <a:buSzPct val="100000"/>
              <a:buChar char="•"/>
            </a:pPr>
            <a:r>
              <a:rPr lang="en-US" sz="1400" dirty="0">
                <a:solidFill>
                  <a:srgbClr val="FFFFFF"/>
                </a:solidFill>
                <a:latin typeface="Inter Medium" pitchFamily="34" charset="0"/>
                <a:ea typeface="Inter Medium" pitchFamily="34" charset="-122"/>
                <a:cs typeface="Inter Medium" pitchFamily="34" charset="-120"/>
              </a:rPr>
              <a:t>Relies on fixed assumptions or manual calculations.</a:t>
            </a:r>
            <a:endParaRPr lang="en-US" sz="1400" dirty="0"/>
          </a:p>
          <a:p>
            <a:pPr algn="l" marL="284480" indent="-284480">
              <a:lnSpc>
                <a:spcPct val="104000"/>
              </a:lnSpc>
              <a:buSzPct val="100000"/>
              <a:buChar char="•"/>
            </a:pPr>
            <a:r>
              <a:rPr lang="en-US" sz="1400" dirty="0">
                <a:solidFill>
                  <a:srgbClr val="FFFFFF"/>
                </a:solidFill>
                <a:latin typeface="Inter Medium" pitchFamily="34" charset="0"/>
                <a:ea typeface="Inter Medium" pitchFamily="34" charset="-122"/>
                <a:cs typeface="Inter Medium" pitchFamily="34" charset="-120"/>
              </a:rPr>
              <a:t>Limited comparison across locations and seasons.</a:t>
            </a:r>
            <a:endParaRPr lang="en-US" sz="1400" dirty="0"/>
          </a:p>
          <a:p>
            <a:pPr algn="l" marL="284480" indent="-284480">
              <a:lnSpc>
                <a:spcPct val="104000"/>
              </a:lnSpc>
              <a:buSzPct val="100000"/>
              <a:buChar char="•"/>
            </a:pPr>
            <a:r>
              <a:rPr lang="en-US" sz="1400" dirty="0">
                <a:solidFill>
                  <a:srgbClr val="FFFFFF"/>
                </a:solidFill>
                <a:latin typeface="Inter Medium" pitchFamily="34" charset="0"/>
                <a:ea typeface="Inter Medium" pitchFamily="34" charset="-122"/>
                <a:cs typeface="Inter Medium" pitchFamily="34" charset="-120"/>
              </a:rPr>
              <a:t>Slow reporting; recycling planning is separate from waste analysis.</a:t>
            </a:r>
            <a:endParaRPr lang="en-US" sz="1400" dirty="0"/>
          </a:p>
        </p:txBody>
      </p:sp>
      <p:sp>
        <p:nvSpPr>
          <p:cNvPr id="7" name="Shape 5"/>
          <p:cNvSpPr/>
          <p:nvPr/>
        </p:nvSpPr>
        <p:spPr>
          <a:xfrm>
            <a:off x="6248244" y="3581400"/>
            <a:ext cx="5943451" cy="3276600"/>
          </a:xfrm>
          <a:prstGeom prst="rect">
            <a:avLst/>
          </a:prstGeom>
          <a:solidFill>
            <a:srgbClr val="047857"/>
          </a:solidFill>
          <a:ln/>
        </p:spPr>
      </p:sp>
      <p:sp>
        <p:nvSpPr>
          <p:cNvPr id="8" name="Text 6"/>
          <p:cNvSpPr/>
          <p:nvPr/>
        </p:nvSpPr>
        <p:spPr>
          <a:xfrm>
            <a:off x="6400640" y="4525169"/>
            <a:ext cx="5638659" cy="420688"/>
          </a:xfrm>
          <a:prstGeom prst="rect">
            <a:avLst/>
          </a:prstGeom>
          <a:noFill/>
          <a:ln/>
        </p:spPr>
        <p:txBody>
          <a:bodyPr wrap="none" lIns="0" tIns="0" rIns="0" bIns="0" rtlCol="0" anchor="t"/>
          <a:lstStyle/>
          <a:p>
            <a:pPr algn="l" indent="0" marL="0">
              <a:lnSpc>
                <a:spcPct val="104000"/>
              </a:lnSpc>
              <a:buNone/>
            </a:pPr>
            <a:r>
              <a:rPr lang="en-US" sz="2650" dirty="0">
                <a:solidFill>
                  <a:srgbClr val="FFFFFF"/>
                </a:solidFill>
                <a:latin typeface="DM Sans SemiBold" pitchFamily="34" charset="0"/>
                <a:ea typeface="DM Sans SemiBold" pitchFamily="34" charset="-122"/>
                <a:cs typeface="DM Sans SemiBold" pitchFamily="34" charset="-120"/>
              </a:rPr>
              <a:t>Proposed system</a:t>
            </a:r>
            <a:endParaRPr lang="en-US" sz="2650" dirty="0"/>
          </a:p>
        </p:txBody>
      </p:sp>
      <p:sp>
        <p:nvSpPr>
          <p:cNvPr id="9" name="Text 7"/>
          <p:cNvSpPr/>
          <p:nvPr/>
        </p:nvSpPr>
        <p:spPr>
          <a:xfrm>
            <a:off x="6400640" y="5136753"/>
            <a:ext cx="5638659" cy="786606"/>
          </a:xfrm>
          <a:prstGeom prst="rect">
            <a:avLst/>
          </a:prstGeom>
          <a:noFill/>
          <a:ln/>
        </p:spPr>
        <p:txBody>
          <a:bodyPr wrap="square" lIns="0" tIns="0" rIns="0" bIns="0" rtlCol="0" anchor="t">
            <a:normAutofit/>
          </a:bodyPr>
          <a:lstStyle/>
          <a:p>
            <a:pPr algn="l" marL="284480" indent="-284480">
              <a:lnSpc>
                <a:spcPct val="104000"/>
              </a:lnSpc>
              <a:buSzPct val="100000"/>
              <a:buChar char="•"/>
            </a:pPr>
            <a:r>
              <a:rPr lang="en-US" sz="1400" dirty="0">
                <a:solidFill>
                  <a:srgbClr val="FFFFFF"/>
                </a:solidFill>
                <a:latin typeface="Inter Medium" pitchFamily="34" charset="0"/>
                <a:ea typeface="Inter Medium" pitchFamily="34" charset="-122"/>
                <a:cs typeface="Inter Medium" pitchFamily="34" charset="-120"/>
              </a:rPr>
              <a:t>Machine learning predicts waste generation and recycling rate.</a:t>
            </a:r>
            <a:endParaRPr lang="en-US" sz="1400" dirty="0"/>
          </a:p>
          <a:p>
            <a:pPr algn="l" marL="284480" indent="-284480">
              <a:lnSpc>
                <a:spcPct val="104000"/>
              </a:lnSpc>
              <a:buSzPct val="100000"/>
              <a:buChar char="•"/>
            </a:pPr>
            <a:r>
              <a:rPr lang="en-US" sz="1400" dirty="0">
                <a:solidFill>
                  <a:srgbClr val="FFFFFF"/>
                </a:solidFill>
                <a:latin typeface="Inter Medium" pitchFamily="34" charset="0"/>
                <a:ea typeface="Inter Medium" pitchFamily="34" charset="-122"/>
                <a:cs typeface="Inter Medium" pitchFamily="34" charset="-120"/>
              </a:rPr>
              <a:t>Automated preprocessing and batch CSV prediction.</a:t>
            </a:r>
            <a:endParaRPr lang="en-US" sz="1400" dirty="0"/>
          </a:p>
          <a:p>
            <a:pPr algn="l" marL="284480" indent="-284480">
              <a:lnSpc>
                <a:spcPct val="104000"/>
              </a:lnSpc>
              <a:buSzPct val="100000"/>
              <a:buChar char="•"/>
            </a:pPr>
            <a:r>
              <a:rPr lang="en-US" sz="1400" dirty="0">
                <a:solidFill>
                  <a:srgbClr val="FFFFFF"/>
                </a:solidFill>
                <a:latin typeface="Inter Medium" pitchFamily="34" charset="0"/>
                <a:ea typeface="Inter Medium" pitchFamily="34" charset="-122"/>
                <a:cs typeface="Inter Medium" pitchFamily="34" charset="-120"/>
              </a:rPr>
              <a:t>Interactive Streamlit dashboard supports decisions.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2425601"/>
          </a:xfrm>
          <a:prstGeom prst="rect">
            <a:avLst/>
          </a:prstGeom>
          <a:solidFill>
            <a:srgbClr val="102A43"/>
          </a:solidFill>
          <a:ln/>
        </p:spPr>
      </p:sp>
      <p:sp>
        <p:nvSpPr>
          <p:cNvPr id="3" name="Text 1"/>
          <p:cNvSpPr/>
          <p:nvPr/>
        </p:nvSpPr>
        <p:spPr>
          <a:xfrm>
            <a:off x="152396" y="162322"/>
            <a:ext cx="11886903" cy="569813"/>
          </a:xfrm>
          <a:prstGeom prst="rect">
            <a:avLst/>
          </a:prstGeom>
          <a:noFill/>
          <a:ln/>
        </p:spPr>
        <p:txBody>
          <a:bodyPr wrap="none" lIns="0" tIns="0" rIns="0" bIns="0" rtlCol="0" anchor="t"/>
          <a:lstStyle/>
          <a:p>
            <a:pPr algn="l" indent="0" marL="0">
              <a:lnSpc>
                <a:spcPct val="104000"/>
              </a:lnSpc>
              <a:buNone/>
            </a:pPr>
            <a:r>
              <a:rPr lang="en-US" sz="3600" dirty="0">
                <a:solidFill>
                  <a:srgbClr val="FFFFFF"/>
                </a:solidFill>
                <a:latin typeface="DM Sans SemiBold" pitchFamily="34" charset="0"/>
                <a:ea typeface="DM Sans SemiBold" pitchFamily="34" charset="-122"/>
                <a:cs typeface="DM Sans SemiBold" pitchFamily="34" charset="-120"/>
              </a:rPr>
              <a:t>Project Design / Workflow</a:t>
            </a:r>
            <a:endParaRPr lang="en-US" sz="3600" dirty="0"/>
          </a:p>
        </p:txBody>
      </p:sp>
      <p:sp>
        <p:nvSpPr>
          <p:cNvPr id="4" name="Shape 2"/>
          <p:cNvSpPr/>
          <p:nvPr/>
        </p:nvSpPr>
        <p:spPr>
          <a:xfrm>
            <a:off x="203195" y="2882801"/>
            <a:ext cx="382975" cy="311150"/>
          </a:xfrm>
          <a:prstGeom prst="rect">
            <a:avLst/>
          </a:prstGeom>
          <a:solidFill>
            <a:srgbClr val="2D7A3E"/>
          </a:solidFill>
          <a:ln w="6350">
            <a:solidFill>
              <a:srgbClr val="C0D7C5"/>
            </a:solidFill>
            <a:prstDash val="solid"/>
          </a:ln>
        </p:spPr>
      </p:sp>
      <p:sp>
        <p:nvSpPr>
          <p:cNvPr id="5" name="Text 3"/>
          <p:cNvSpPr/>
          <p:nvPr/>
        </p:nvSpPr>
        <p:spPr>
          <a:xfrm>
            <a:off x="298443" y="2949476"/>
            <a:ext cx="802064"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Inter SemiBold" pitchFamily="34" charset="0"/>
                <a:ea typeface="Inter SemiBold" pitchFamily="34" charset="-122"/>
                <a:cs typeface="Inter SemiBold" pitchFamily="34" charset="-120"/>
              </a:rPr>
              <a:t>01</a:t>
            </a:r>
            <a:endParaRPr lang="en-US" sz="1400" dirty="0"/>
          </a:p>
        </p:txBody>
      </p:sp>
      <p:pic>
        <p:nvPicPr>
          <p:cNvPr id="6" name="Image 0" descr="preencoded.png">    </p:cNvPr>
          <p:cNvPicPr>
            <a:picLocks noChangeAspect="1"/>
          </p:cNvPicPr>
          <p:nvPr/>
        </p:nvPicPr>
        <p:blipFill>
          <a:blip r:embed="rId1"/>
          <a:stretch>
            <a:fillRect/>
          </a:stretch>
        </p:blipFill>
        <p:spPr>
          <a:xfrm>
            <a:off x="203195" y="3264991"/>
            <a:ext cx="2031949" cy="1151434"/>
          </a:xfrm>
          <a:prstGeom prst="rect">
            <a:avLst/>
          </a:prstGeom>
        </p:spPr>
      </p:pic>
      <p:sp>
        <p:nvSpPr>
          <p:cNvPr id="7" name="Text 4"/>
          <p:cNvSpPr/>
          <p:nvPr/>
        </p:nvSpPr>
        <p:spPr>
          <a:xfrm>
            <a:off x="203195" y="4822825"/>
            <a:ext cx="2031949" cy="317500"/>
          </a:xfrm>
          <a:prstGeom prst="rect">
            <a:avLst/>
          </a:prstGeom>
          <a:noFill/>
          <a:ln/>
        </p:spPr>
        <p:txBody>
          <a:bodyPr wrap="none" lIns="0" tIns="0" rIns="0" bIns="0" rtlCol="0" anchor="t"/>
          <a:lstStyle/>
          <a:p>
            <a:pPr algn="l" indent="0" marL="0">
              <a:lnSpc>
                <a:spcPct val="104000"/>
              </a:lnSpc>
              <a:buNone/>
            </a:pPr>
            <a:r>
              <a:rPr lang="en-US" sz="2000" dirty="0">
                <a:solidFill>
                  <a:srgbClr val="030303"/>
                </a:solidFill>
                <a:latin typeface="DM Sans SemiBold" pitchFamily="34" charset="0"/>
                <a:ea typeface="DM Sans SemiBold" pitchFamily="34" charset="-122"/>
                <a:cs typeface="DM Sans SemiBold" pitchFamily="34" charset="-120"/>
              </a:rPr>
              <a:t>Data Collection</a:t>
            </a:r>
            <a:endParaRPr lang="en-US" sz="2000" dirty="0"/>
          </a:p>
        </p:txBody>
      </p:sp>
      <p:sp>
        <p:nvSpPr>
          <p:cNvPr id="8" name="Text 5"/>
          <p:cNvSpPr/>
          <p:nvPr/>
        </p:nvSpPr>
        <p:spPr>
          <a:xfrm>
            <a:off x="203195" y="5343525"/>
            <a:ext cx="2031949" cy="38100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464646"/>
                </a:solidFill>
                <a:latin typeface="Inter Medium" pitchFamily="34" charset="0"/>
                <a:ea typeface="Inter Medium" pitchFamily="34" charset="-122"/>
                <a:cs typeface="Inter Medium" pitchFamily="34" charset="-120"/>
              </a:rPr>
              <a:t>25,203 records from Indian cities, 2015–2026</a:t>
            </a:r>
            <a:endParaRPr lang="en-US" sz="1200" dirty="0"/>
          </a:p>
        </p:txBody>
      </p:sp>
      <p:sp>
        <p:nvSpPr>
          <p:cNvPr id="9" name="Shape 6"/>
          <p:cNvSpPr/>
          <p:nvPr/>
        </p:nvSpPr>
        <p:spPr>
          <a:xfrm>
            <a:off x="2641435" y="2882801"/>
            <a:ext cx="418593" cy="311150"/>
          </a:xfrm>
          <a:prstGeom prst="rect">
            <a:avLst/>
          </a:prstGeom>
          <a:solidFill>
            <a:srgbClr val="2D7A3E"/>
          </a:solidFill>
          <a:ln w="6350">
            <a:solidFill>
              <a:srgbClr val="C0D7C5"/>
            </a:solidFill>
            <a:prstDash val="solid"/>
          </a:ln>
        </p:spPr>
      </p:sp>
      <p:sp>
        <p:nvSpPr>
          <p:cNvPr id="10" name="Text 7"/>
          <p:cNvSpPr/>
          <p:nvPr/>
        </p:nvSpPr>
        <p:spPr>
          <a:xfrm>
            <a:off x="2736682" y="2949476"/>
            <a:ext cx="837683"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Inter SemiBold" pitchFamily="34" charset="0"/>
                <a:ea typeface="Inter SemiBold" pitchFamily="34" charset="-122"/>
                <a:cs typeface="Inter SemiBold" pitchFamily="34" charset="-120"/>
              </a:rPr>
              <a:t>02</a:t>
            </a:r>
            <a:endParaRPr lang="en-US" sz="1400" dirty="0"/>
          </a:p>
        </p:txBody>
      </p:sp>
      <p:pic>
        <p:nvPicPr>
          <p:cNvPr id="11" name="Image 1" descr="preencoded.png">    </p:cNvPr>
          <p:cNvPicPr>
            <a:picLocks noChangeAspect="1"/>
          </p:cNvPicPr>
          <p:nvPr/>
        </p:nvPicPr>
        <p:blipFill>
          <a:blip r:embed="rId2"/>
          <a:stretch>
            <a:fillRect/>
          </a:stretch>
        </p:blipFill>
        <p:spPr>
          <a:xfrm>
            <a:off x="2641435" y="3264991"/>
            <a:ext cx="2032048" cy="1151434"/>
          </a:xfrm>
          <a:prstGeom prst="rect">
            <a:avLst/>
          </a:prstGeom>
        </p:spPr>
      </p:pic>
      <p:sp>
        <p:nvSpPr>
          <p:cNvPr id="12" name="Text 8"/>
          <p:cNvSpPr/>
          <p:nvPr/>
        </p:nvSpPr>
        <p:spPr>
          <a:xfrm>
            <a:off x="2641435" y="4822825"/>
            <a:ext cx="2032048" cy="635000"/>
          </a:xfrm>
          <a:prstGeom prst="rect">
            <a:avLst/>
          </a:prstGeom>
          <a:noFill/>
          <a:ln/>
        </p:spPr>
        <p:txBody>
          <a:bodyPr wrap="square" lIns="0" tIns="0" rIns="0" bIns="0" rtlCol="0" anchor="t">
            <a:normAutofit/>
          </a:bodyPr>
          <a:lstStyle/>
          <a:p>
            <a:pPr algn="l" indent="0" marL="0">
              <a:lnSpc>
                <a:spcPct val="104000"/>
              </a:lnSpc>
              <a:buNone/>
            </a:pPr>
            <a:r>
              <a:rPr lang="en-US" sz="2000" dirty="0">
                <a:solidFill>
                  <a:srgbClr val="030303"/>
                </a:solidFill>
                <a:latin typeface="DM Sans SemiBold" pitchFamily="34" charset="0"/>
                <a:ea typeface="DM Sans SemiBold" pitchFamily="34" charset="-122"/>
                <a:cs typeface="DM Sans SemiBold" pitchFamily="34" charset="-120"/>
              </a:rPr>
              <a:t>Data Preprocessing</a:t>
            </a:r>
            <a:endParaRPr lang="en-US" sz="2000" dirty="0"/>
          </a:p>
        </p:txBody>
      </p:sp>
      <p:sp>
        <p:nvSpPr>
          <p:cNvPr id="13" name="Text 9"/>
          <p:cNvSpPr/>
          <p:nvPr/>
        </p:nvSpPr>
        <p:spPr>
          <a:xfrm>
            <a:off x="2641435" y="5661025"/>
            <a:ext cx="2032048" cy="57150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464646"/>
                </a:solidFill>
                <a:latin typeface="Inter Medium" pitchFamily="34" charset="0"/>
                <a:ea typeface="Inter Medium" pitchFamily="34" charset="-122"/>
                <a:cs typeface="Inter Medium" pitchFamily="34" charset="-120"/>
              </a:rPr>
              <a:t>26 selected features → encoding → 36 model inputs</a:t>
            </a:r>
            <a:endParaRPr lang="en-US" sz="1200" dirty="0"/>
          </a:p>
        </p:txBody>
      </p:sp>
      <p:sp>
        <p:nvSpPr>
          <p:cNvPr id="14" name="Shape 10"/>
          <p:cNvSpPr/>
          <p:nvPr/>
        </p:nvSpPr>
        <p:spPr>
          <a:xfrm>
            <a:off x="5079774" y="2882801"/>
            <a:ext cx="420975" cy="311150"/>
          </a:xfrm>
          <a:prstGeom prst="rect">
            <a:avLst/>
          </a:prstGeom>
          <a:solidFill>
            <a:srgbClr val="2D7A3E"/>
          </a:solidFill>
          <a:ln w="6350">
            <a:solidFill>
              <a:srgbClr val="C0D7C5"/>
            </a:solidFill>
            <a:prstDash val="solid"/>
          </a:ln>
        </p:spPr>
      </p:sp>
      <p:sp>
        <p:nvSpPr>
          <p:cNvPr id="15" name="Text 11"/>
          <p:cNvSpPr/>
          <p:nvPr/>
        </p:nvSpPr>
        <p:spPr>
          <a:xfrm>
            <a:off x="5175021" y="2949476"/>
            <a:ext cx="840064"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Inter SemiBold" pitchFamily="34" charset="0"/>
                <a:ea typeface="Inter SemiBold" pitchFamily="34" charset="-122"/>
                <a:cs typeface="Inter SemiBold" pitchFamily="34" charset="-120"/>
              </a:rPr>
              <a:t>03</a:t>
            </a:r>
            <a:endParaRPr lang="en-US" sz="1400" dirty="0"/>
          </a:p>
        </p:txBody>
      </p:sp>
      <p:pic>
        <p:nvPicPr>
          <p:cNvPr id="16" name="Image 2" descr="preencoded.png">    </p:cNvPr>
          <p:cNvPicPr>
            <a:picLocks noChangeAspect="1"/>
          </p:cNvPicPr>
          <p:nvPr/>
        </p:nvPicPr>
        <p:blipFill>
          <a:blip r:embed="rId3"/>
          <a:stretch>
            <a:fillRect/>
          </a:stretch>
        </p:blipFill>
        <p:spPr>
          <a:xfrm>
            <a:off x="5079774" y="3264991"/>
            <a:ext cx="2032048" cy="1151434"/>
          </a:xfrm>
          <a:prstGeom prst="rect">
            <a:avLst/>
          </a:prstGeom>
        </p:spPr>
      </p:pic>
      <p:sp>
        <p:nvSpPr>
          <p:cNvPr id="17" name="Text 12"/>
          <p:cNvSpPr/>
          <p:nvPr/>
        </p:nvSpPr>
        <p:spPr>
          <a:xfrm>
            <a:off x="5079774" y="4822825"/>
            <a:ext cx="2032048" cy="317500"/>
          </a:xfrm>
          <a:prstGeom prst="rect">
            <a:avLst/>
          </a:prstGeom>
          <a:noFill/>
          <a:ln/>
        </p:spPr>
        <p:txBody>
          <a:bodyPr wrap="none" lIns="0" tIns="0" rIns="0" bIns="0" rtlCol="0" anchor="t"/>
          <a:lstStyle/>
          <a:p>
            <a:pPr algn="l" indent="0" marL="0">
              <a:lnSpc>
                <a:spcPct val="104000"/>
              </a:lnSpc>
              <a:buNone/>
            </a:pPr>
            <a:r>
              <a:rPr lang="en-US" sz="2000" dirty="0">
                <a:solidFill>
                  <a:srgbClr val="030303"/>
                </a:solidFill>
                <a:latin typeface="DM Sans SemiBold" pitchFamily="34" charset="0"/>
                <a:ea typeface="DM Sans SemiBold" pitchFamily="34" charset="-122"/>
                <a:cs typeface="DM Sans SemiBold" pitchFamily="34" charset="-120"/>
              </a:rPr>
              <a:t>Model Training</a:t>
            </a:r>
            <a:endParaRPr lang="en-US" sz="2000" dirty="0"/>
          </a:p>
        </p:txBody>
      </p:sp>
      <p:sp>
        <p:nvSpPr>
          <p:cNvPr id="18" name="Text 13"/>
          <p:cNvSpPr/>
          <p:nvPr/>
        </p:nvSpPr>
        <p:spPr>
          <a:xfrm>
            <a:off x="5079774" y="5343525"/>
            <a:ext cx="2032048" cy="38100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464646"/>
                </a:solidFill>
                <a:latin typeface="Inter Medium" pitchFamily="34" charset="0"/>
                <a:ea typeface="Inter Medium" pitchFamily="34" charset="-122"/>
                <a:cs typeface="Inter Medium" pitchFamily="34" charset="-120"/>
              </a:rPr>
              <a:t>Linear Regression, Decision Tree, Random Forest</a:t>
            </a:r>
            <a:endParaRPr lang="en-US" sz="1200" dirty="0"/>
          </a:p>
        </p:txBody>
      </p:sp>
      <p:sp>
        <p:nvSpPr>
          <p:cNvPr id="19" name="Shape 14"/>
          <p:cNvSpPr/>
          <p:nvPr/>
        </p:nvSpPr>
        <p:spPr>
          <a:xfrm>
            <a:off x="7518113" y="2882801"/>
            <a:ext cx="426233" cy="311150"/>
          </a:xfrm>
          <a:prstGeom prst="rect">
            <a:avLst/>
          </a:prstGeom>
          <a:solidFill>
            <a:srgbClr val="2D7A3E"/>
          </a:solidFill>
          <a:ln w="6350">
            <a:solidFill>
              <a:srgbClr val="C0D7C5"/>
            </a:solidFill>
            <a:prstDash val="solid"/>
          </a:ln>
        </p:spPr>
      </p:sp>
      <p:sp>
        <p:nvSpPr>
          <p:cNvPr id="20" name="Text 15"/>
          <p:cNvSpPr/>
          <p:nvPr/>
        </p:nvSpPr>
        <p:spPr>
          <a:xfrm>
            <a:off x="7613360" y="2949476"/>
            <a:ext cx="845323"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Inter SemiBold" pitchFamily="34" charset="0"/>
                <a:ea typeface="Inter SemiBold" pitchFamily="34" charset="-122"/>
                <a:cs typeface="Inter SemiBold" pitchFamily="34" charset="-120"/>
              </a:rPr>
              <a:t>04</a:t>
            </a:r>
            <a:endParaRPr lang="en-US" sz="1400" dirty="0"/>
          </a:p>
        </p:txBody>
      </p:sp>
      <p:pic>
        <p:nvPicPr>
          <p:cNvPr id="21" name="Image 3" descr="preencoded.png">    </p:cNvPr>
          <p:cNvPicPr>
            <a:picLocks noChangeAspect="1"/>
          </p:cNvPicPr>
          <p:nvPr/>
        </p:nvPicPr>
        <p:blipFill>
          <a:blip r:embed="rId4"/>
          <a:stretch>
            <a:fillRect/>
          </a:stretch>
        </p:blipFill>
        <p:spPr>
          <a:xfrm>
            <a:off x="7518113" y="3264991"/>
            <a:ext cx="2032048" cy="1151434"/>
          </a:xfrm>
          <a:prstGeom prst="rect">
            <a:avLst/>
          </a:prstGeom>
        </p:spPr>
      </p:pic>
      <p:sp>
        <p:nvSpPr>
          <p:cNvPr id="22" name="Text 16"/>
          <p:cNvSpPr/>
          <p:nvPr/>
        </p:nvSpPr>
        <p:spPr>
          <a:xfrm>
            <a:off x="7518113" y="4822825"/>
            <a:ext cx="2032048" cy="952500"/>
          </a:xfrm>
          <a:prstGeom prst="rect">
            <a:avLst/>
          </a:prstGeom>
          <a:noFill/>
          <a:ln/>
        </p:spPr>
        <p:txBody>
          <a:bodyPr wrap="square" lIns="0" tIns="0" rIns="0" bIns="0" rtlCol="0" anchor="t">
            <a:normAutofit/>
          </a:bodyPr>
          <a:lstStyle/>
          <a:p>
            <a:pPr algn="l" indent="0" marL="0">
              <a:lnSpc>
                <a:spcPct val="104000"/>
              </a:lnSpc>
              <a:buNone/>
            </a:pPr>
            <a:r>
              <a:rPr lang="en-US" sz="2000" dirty="0">
                <a:solidFill>
                  <a:srgbClr val="030303"/>
                </a:solidFill>
                <a:latin typeface="DM Sans SemiBold" pitchFamily="34" charset="0"/>
                <a:ea typeface="DM Sans SemiBold" pitchFamily="34" charset="-122"/>
                <a:cs typeface="DM Sans SemiBold" pitchFamily="34" charset="-120"/>
              </a:rPr>
              <a:t>Prediction and Recycling Analysis</a:t>
            </a:r>
            <a:endParaRPr lang="en-US" sz="2000" dirty="0"/>
          </a:p>
        </p:txBody>
      </p:sp>
      <p:sp>
        <p:nvSpPr>
          <p:cNvPr id="23" name="Text 17"/>
          <p:cNvSpPr/>
          <p:nvPr/>
        </p:nvSpPr>
        <p:spPr>
          <a:xfrm>
            <a:off x="7518113" y="5978525"/>
            <a:ext cx="2032048" cy="57150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464646"/>
                </a:solidFill>
                <a:latin typeface="Inter Medium" pitchFamily="34" charset="0"/>
                <a:ea typeface="Inter Medium" pitchFamily="34" charset="-122"/>
                <a:cs typeface="Inter Medium" pitchFamily="34" charset="-120"/>
              </a:rPr>
              <a:t>Waste generation, recycling rate, recyclable and residual waste</a:t>
            </a:r>
            <a:endParaRPr lang="en-US" sz="1200" dirty="0"/>
          </a:p>
        </p:txBody>
      </p:sp>
      <p:sp>
        <p:nvSpPr>
          <p:cNvPr id="24" name="Shape 18"/>
          <p:cNvSpPr/>
          <p:nvPr/>
        </p:nvSpPr>
        <p:spPr>
          <a:xfrm>
            <a:off x="9956452" y="2882801"/>
            <a:ext cx="416708" cy="311150"/>
          </a:xfrm>
          <a:prstGeom prst="rect">
            <a:avLst/>
          </a:prstGeom>
          <a:solidFill>
            <a:srgbClr val="2D7A3E"/>
          </a:solidFill>
          <a:ln w="6350">
            <a:solidFill>
              <a:srgbClr val="C0D7C5"/>
            </a:solidFill>
            <a:prstDash val="solid"/>
          </a:ln>
        </p:spPr>
      </p:sp>
      <p:sp>
        <p:nvSpPr>
          <p:cNvPr id="25" name="Text 19"/>
          <p:cNvSpPr/>
          <p:nvPr/>
        </p:nvSpPr>
        <p:spPr>
          <a:xfrm>
            <a:off x="10051699" y="2949476"/>
            <a:ext cx="835798"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Inter SemiBold" pitchFamily="34" charset="0"/>
                <a:ea typeface="Inter SemiBold" pitchFamily="34" charset="-122"/>
                <a:cs typeface="Inter SemiBold" pitchFamily="34" charset="-120"/>
              </a:rPr>
              <a:t>05</a:t>
            </a:r>
            <a:endParaRPr lang="en-US" sz="1400" dirty="0"/>
          </a:p>
        </p:txBody>
      </p:sp>
      <p:pic>
        <p:nvPicPr>
          <p:cNvPr id="26" name="Image 4" descr="preencoded.png">    </p:cNvPr>
          <p:cNvPicPr>
            <a:picLocks noChangeAspect="1"/>
          </p:cNvPicPr>
          <p:nvPr/>
        </p:nvPicPr>
        <p:blipFill>
          <a:blip r:embed="rId5"/>
          <a:stretch>
            <a:fillRect/>
          </a:stretch>
        </p:blipFill>
        <p:spPr>
          <a:xfrm>
            <a:off x="9956452" y="3264991"/>
            <a:ext cx="2031949" cy="1151434"/>
          </a:xfrm>
          <a:prstGeom prst="rect">
            <a:avLst/>
          </a:prstGeom>
        </p:spPr>
      </p:pic>
      <p:sp>
        <p:nvSpPr>
          <p:cNvPr id="27" name="Text 20"/>
          <p:cNvSpPr/>
          <p:nvPr/>
        </p:nvSpPr>
        <p:spPr>
          <a:xfrm>
            <a:off x="9956452" y="4822825"/>
            <a:ext cx="2031949" cy="1270000"/>
          </a:xfrm>
          <a:prstGeom prst="rect">
            <a:avLst/>
          </a:prstGeom>
          <a:noFill/>
          <a:ln/>
        </p:spPr>
        <p:txBody>
          <a:bodyPr wrap="square" lIns="0" tIns="0" rIns="0" bIns="0" rtlCol="0" anchor="t">
            <a:normAutofit/>
          </a:bodyPr>
          <a:lstStyle/>
          <a:p>
            <a:pPr algn="l" indent="0" marL="0">
              <a:lnSpc>
                <a:spcPct val="104000"/>
              </a:lnSpc>
              <a:buNone/>
            </a:pPr>
            <a:r>
              <a:rPr lang="en-US" sz="2000" dirty="0">
                <a:solidFill>
                  <a:srgbClr val="030303"/>
                </a:solidFill>
                <a:latin typeface="DM Sans SemiBold" pitchFamily="34" charset="0"/>
                <a:ea typeface="DM Sans SemiBold" pitchFamily="34" charset="-122"/>
                <a:cs typeface="DM Sans SemiBold" pitchFamily="34" charset="-120"/>
              </a:rPr>
              <a:t>Streamlit Dashboard and Decision Support</a:t>
            </a:r>
            <a:endParaRPr lang="en-US" sz="2000" dirty="0"/>
          </a:p>
        </p:txBody>
      </p:sp>
      <p:sp>
        <p:nvSpPr>
          <p:cNvPr id="28" name="Text 21"/>
          <p:cNvSpPr/>
          <p:nvPr/>
        </p:nvSpPr>
        <p:spPr>
          <a:xfrm>
            <a:off x="9956452" y="6296025"/>
            <a:ext cx="2031949" cy="571500"/>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464646"/>
                </a:solidFill>
                <a:latin typeface="Inter Medium" pitchFamily="34" charset="0"/>
                <a:ea typeface="Inter Medium" pitchFamily="34" charset="-122"/>
                <a:cs typeface="Inter Medium" pitchFamily="34" charset="-120"/>
              </a:rPr>
              <a:t>Streamlit filters, charts, CSV upload and batch prediction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928291"/>
          </a:xfrm>
          <a:prstGeom prst="rect">
            <a:avLst/>
          </a:prstGeom>
          <a:solidFill>
            <a:srgbClr val="0D9488"/>
          </a:solidFill>
          <a:ln/>
        </p:spPr>
      </p:sp>
      <p:sp>
        <p:nvSpPr>
          <p:cNvPr id="3" name="Text 1"/>
          <p:cNvSpPr/>
          <p:nvPr/>
        </p:nvSpPr>
        <p:spPr>
          <a:xfrm>
            <a:off x="152396" y="162322"/>
            <a:ext cx="11886903" cy="569813"/>
          </a:xfrm>
          <a:prstGeom prst="rect">
            <a:avLst/>
          </a:prstGeom>
          <a:noFill/>
          <a:ln/>
        </p:spPr>
        <p:txBody>
          <a:bodyPr wrap="none" lIns="0" tIns="0" rIns="0" bIns="0" rtlCol="0" anchor="t"/>
          <a:lstStyle/>
          <a:p>
            <a:pPr algn="l" indent="0" marL="0">
              <a:lnSpc>
                <a:spcPct val="104000"/>
              </a:lnSpc>
              <a:buNone/>
            </a:pPr>
            <a:r>
              <a:rPr lang="en-US" sz="3600" dirty="0">
                <a:solidFill>
                  <a:srgbClr val="FFFFFF"/>
                </a:solidFill>
                <a:latin typeface="DM Sans SemiBold" pitchFamily="34" charset="0"/>
                <a:ea typeface="DM Sans SemiBold" pitchFamily="34" charset="-122"/>
                <a:cs typeface="DM Sans SemiBold" pitchFamily="34" charset="-120"/>
              </a:rPr>
              <a:t>Dataset and preprocessing</a:t>
            </a:r>
            <a:endParaRPr lang="en-US" sz="3600" dirty="0"/>
          </a:p>
        </p:txBody>
      </p:sp>
      <p:sp>
        <p:nvSpPr>
          <p:cNvPr id="4" name="Text 2"/>
          <p:cNvSpPr/>
          <p:nvPr/>
        </p:nvSpPr>
        <p:spPr>
          <a:xfrm>
            <a:off x="609585" y="1995091"/>
            <a:ext cx="6309262" cy="1513284"/>
          </a:xfrm>
          <a:prstGeom prst="rect">
            <a:avLst/>
          </a:prstGeom>
          <a:noFill/>
          <a:ln/>
        </p:spPr>
        <p:txBody>
          <a:bodyPr wrap="square" lIns="0" tIns="0" rIns="0" bIns="0" rtlCol="0" anchor="t">
            <a:normAutofit/>
          </a:bodyPr>
          <a:lstStyle/>
          <a:p>
            <a:pPr algn="l" marL="284480" indent="-284480">
              <a:lnSpc>
                <a:spcPct val="104000"/>
              </a:lnSpc>
              <a:buSzPct val="100000"/>
              <a:buChar char="•"/>
            </a:pPr>
            <a:r>
              <a:rPr lang="en-US" sz="1400" dirty="0">
                <a:solidFill>
                  <a:srgbClr val="464646"/>
                </a:solidFill>
                <a:latin typeface="Inter Medium" pitchFamily="34" charset="0"/>
                <a:ea typeface="Inter Medium" pitchFamily="34" charset="-122"/>
                <a:cs typeface="Inter Medium" pitchFamily="34" charset="-120"/>
              </a:rPr>
              <a:t>Kaggle dataset: Waste_Management_India_20K.csv</a:t>
            </a:r>
            <a:endParaRPr lang="en-US" sz="1400" dirty="0"/>
          </a:p>
          <a:p>
            <a:pPr algn="l" marL="284480" indent="-284480">
              <a:lnSpc>
                <a:spcPct val="104000"/>
              </a:lnSpc>
              <a:buSzPct val="100000"/>
              <a:buChar char="•"/>
            </a:pPr>
            <a:r>
              <a:rPr lang="en-US" sz="1400" dirty="0">
                <a:solidFill>
                  <a:srgbClr val="464646"/>
                </a:solidFill>
                <a:latin typeface="Inter Medium" pitchFamily="34" charset="0"/>
                <a:ea typeface="Inter Medium" pitchFamily="34" charset="-122"/>
                <a:cs typeface="Inter Medium" pitchFamily="34" charset="-120"/>
              </a:rPr>
              <a:t>Indian cities and states, with data from 2015–2026</a:t>
            </a:r>
            <a:endParaRPr lang="en-US" sz="1400" dirty="0"/>
          </a:p>
          <a:p>
            <a:pPr algn="l" marL="284480" indent="-284480">
              <a:lnSpc>
                <a:spcPct val="104000"/>
              </a:lnSpc>
              <a:buSzPct val="100000"/>
              <a:buChar char="•"/>
            </a:pPr>
            <a:r>
              <a:rPr lang="en-US" sz="1400" dirty="0">
                <a:solidFill>
                  <a:srgbClr val="464646"/>
                </a:solidFill>
                <a:latin typeface="Inter Medium" pitchFamily="34" charset="0"/>
                <a:ea typeface="Inter Medium" pitchFamily="34" charset="-122"/>
                <a:cs typeface="Inter Medium" pitchFamily="34" charset="-120"/>
              </a:rPr>
              <a:t>26 selected domain features before encoding; 36 model input features after one-hot encoding</a:t>
            </a:r>
            <a:endParaRPr lang="en-US" sz="1400" dirty="0"/>
          </a:p>
          <a:p>
            <a:pPr algn="l" marL="284480" indent="-284480">
              <a:lnSpc>
                <a:spcPct val="104000"/>
              </a:lnSpc>
              <a:buSzPct val="100000"/>
              <a:buChar char="•"/>
            </a:pPr>
            <a:r>
              <a:rPr lang="en-US" sz="1400" dirty="0">
                <a:solidFill>
                  <a:srgbClr val="464646"/>
                </a:solidFill>
                <a:latin typeface="Inter Medium" pitchFamily="34" charset="0"/>
                <a:ea typeface="Inter Medium" pitchFamily="34" charset="-122"/>
                <a:cs typeface="Inter Medium" pitchFamily="34" charset="-120"/>
              </a:rPr>
              <a:t>80:20 train-test split, random_state=42, and StandardScaler where appropriate</a:t>
            </a:r>
            <a:endParaRPr lang="en-US" sz="1400" dirty="0"/>
          </a:p>
        </p:txBody>
      </p:sp>
      <p:pic>
        <p:nvPicPr>
          <p:cNvPr id="5" name="Image 0" descr="preencoded.png">    </p:cNvPr>
          <p:cNvPicPr>
            <a:picLocks noChangeAspect="1"/>
          </p:cNvPicPr>
          <p:nvPr/>
        </p:nvPicPr>
        <p:blipFill>
          <a:blip r:embed="rId1"/>
          <a:stretch>
            <a:fillRect/>
          </a:stretch>
        </p:blipFill>
        <p:spPr>
          <a:xfrm>
            <a:off x="609585" y="3708400"/>
            <a:ext cx="5079873" cy="2540000"/>
          </a:xfrm>
          <a:prstGeom prst="rect">
            <a:avLst/>
          </a:prstGeom>
        </p:spPr>
      </p:pic>
      <p:sp>
        <p:nvSpPr>
          <p:cNvPr id="6" name="Shape 3"/>
          <p:cNvSpPr/>
          <p:nvPr/>
        </p:nvSpPr>
        <p:spPr>
          <a:xfrm>
            <a:off x="7833124" y="1385491"/>
            <a:ext cx="4358571" cy="5472509"/>
          </a:xfrm>
          <a:prstGeom prst="rect">
            <a:avLst/>
          </a:prstGeom>
          <a:solidFill>
            <a:srgbClr val="059669"/>
          </a:solidFill>
          <a:ln/>
        </p:spPr>
      </p:sp>
      <p:sp>
        <p:nvSpPr>
          <p:cNvPr id="7" name="Text 4"/>
          <p:cNvSpPr/>
          <p:nvPr/>
        </p:nvSpPr>
        <p:spPr>
          <a:xfrm>
            <a:off x="8061719" y="2350333"/>
            <a:ext cx="3901382" cy="1051520"/>
          </a:xfrm>
          <a:prstGeom prst="rect">
            <a:avLst/>
          </a:prstGeom>
          <a:noFill/>
          <a:ln/>
        </p:spPr>
        <p:txBody>
          <a:bodyPr wrap="none" lIns="0" tIns="0" rIns="0" bIns="0" rtlCol="0" anchor="t"/>
          <a:lstStyle/>
          <a:p>
            <a:pPr algn="l" indent="0" marL="0">
              <a:lnSpc>
                <a:spcPct val="96000"/>
              </a:lnSpc>
              <a:buNone/>
            </a:pPr>
            <a:r>
              <a:rPr lang="en-US" sz="7200" dirty="0">
                <a:solidFill>
                  <a:srgbClr val="FFFFFF"/>
                </a:solidFill>
                <a:latin typeface="DM Sans SemiBold" pitchFamily="34" charset="0"/>
                <a:ea typeface="DM Sans SemiBold" pitchFamily="34" charset="-122"/>
                <a:cs typeface="DM Sans SemiBold" pitchFamily="34" charset="-120"/>
              </a:rPr>
              <a:t>25,203</a:t>
            </a:r>
            <a:endParaRPr lang="en-US" sz="7200" dirty="0"/>
          </a:p>
        </p:txBody>
      </p:sp>
      <p:sp>
        <p:nvSpPr>
          <p:cNvPr id="8" name="Text 5"/>
          <p:cNvSpPr/>
          <p:nvPr/>
        </p:nvSpPr>
        <p:spPr>
          <a:xfrm>
            <a:off x="8061719" y="3757811"/>
            <a:ext cx="4129976" cy="190500"/>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Inter Medium" pitchFamily="34" charset="0"/>
                <a:ea typeface="Inter Medium" pitchFamily="34" charset="-122"/>
                <a:cs typeface="Inter Medium" pitchFamily="34" charset="-120"/>
              </a:rPr>
              <a:t>records</a:t>
            </a:r>
            <a:endParaRPr lang="en-US" sz="1200" dirty="0"/>
          </a:p>
        </p:txBody>
      </p:sp>
      <p:sp>
        <p:nvSpPr>
          <p:cNvPr id="9" name="Shape 6"/>
          <p:cNvSpPr/>
          <p:nvPr/>
        </p:nvSpPr>
        <p:spPr>
          <a:xfrm>
            <a:off x="8061719" y="4183261"/>
            <a:ext cx="1287430" cy="38100"/>
          </a:xfrm>
          <a:prstGeom prst="roundRect">
            <a:avLst>
              <a:gd name="adj" fmla="val 49999"/>
            </a:avLst>
          </a:prstGeom>
          <a:solidFill>
            <a:srgbClr val="2D7A3E"/>
          </a:solidFill>
          <a:ln/>
        </p:spPr>
      </p:sp>
      <p:sp>
        <p:nvSpPr>
          <p:cNvPr id="10" name="Text 7"/>
          <p:cNvSpPr/>
          <p:nvPr/>
        </p:nvSpPr>
        <p:spPr>
          <a:xfrm>
            <a:off x="8061719" y="4699567"/>
            <a:ext cx="3901382" cy="788591"/>
          </a:xfrm>
          <a:prstGeom prst="rect">
            <a:avLst/>
          </a:prstGeom>
          <a:noFill/>
          <a:ln/>
        </p:spPr>
        <p:txBody>
          <a:bodyPr wrap="none" lIns="0" tIns="0" rIns="0" bIns="0" rtlCol="0" anchor="t"/>
          <a:lstStyle/>
          <a:p>
            <a:pPr algn="l" indent="0" marL="0">
              <a:lnSpc>
                <a:spcPct val="96000"/>
              </a:lnSpc>
              <a:buNone/>
            </a:pPr>
            <a:r>
              <a:rPr lang="en-US" sz="5400" dirty="0">
                <a:solidFill>
                  <a:srgbClr val="FFFFFF"/>
                </a:solidFill>
                <a:latin typeface="DM Sans SemiBold" pitchFamily="34" charset="0"/>
                <a:ea typeface="DM Sans SemiBold" pitchFamily="34" charset="-122"/>
                <a:cs typeface="DM Sans SemiBold" pitchFamily="34" charset="-120"/>
              </a:rPr>
              <a:t>42</a:t>
            </a:r>
            <a:endParaRPr lang="en-US" sz="5400" dirty="0"/>
          </a:p>
        </p:txBody>
      </p:sp>
      <p:sp>
        <p:nvSpPr>
          <p:cNvPr id="11" name="Text 8"/>
          <p:cNvSpPr/>
          <p:nvPr/>
        </p:nvSpPr>
        <p:spPr>
          <a:xfrm>
            <a:off x="8061719" y="5758855"/>
            <a:ext cx="4129976" cy="190500"/>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Inter Medium" pitchFamily="34" charset="0"/>
                <a:ea typeface="Inter Medium" pitchFamily="34" charset="-122"/>
                <a:cs typeface="Inter Medium" pitchFamily="34" charset="-120"/>
              </a:rPr>
              <a:t>original columns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2122488"/>
          </a:xfrm>
          <a:prstGeom prst="rect">
            <a:avLst/>
          </a:prstGeom>
          <a:solidFill>
            <a:srgbClr val="0D9488"/>
          </a:solidFill>
          <a:ln/>
        </p:spPr>
      </p:sp>
      <p:sp>
        <p:nvSpPr>
          <p:cNvPr id="3" name="Text 1"/>
          <p:cNvSpPr/>
          <p:nvPr/>
        </p:nvSpPr>
        <p:spPr>
          <a:xfrm>
            <a:off x="152396" y="162322"/>
            <a:ext cx="11886903" cy="569813"/>
          </a:xfrm>
          <a:prstGeom prst="rect">
            <a:avLst/>
          </a:prstGeom>
          <a:noFill/>
          <a:ln/>
        </p:spPr>
        <p:txBody>
          <a:bodyPr wrap="none" lIns="0" tIns="0" rIns="0" bIns="0" rtlCol="0" anchor="t"/>
          <a:lstStyle/>
          <a:p>
            <a:pPr algn="l" indent="0" marL="0">
              <a:lnSpc>
                <a:spcPct val="104000"/>
              </a:lnSpc>
              <a:buNone/>
            </a:pPr>
            <a:r>
              <a:rPr lang="en-US" sz="3600" dirty="0">
                <a:solidFill>
                  <a:srgbClr val="FFFFFF"/>
                </a:solidFill>
                <a:latin typeface="DM Sans SemiBold" pitchFamily="34" charset="0"/>
                <a:ea typeface="DM Sans SemiBold" pitchFamily="34" charset="-122"/>
                <a:cs typeface="DM Sans SemiBold" pitchFamily="34" charset="-120"/>
              </a:rPr>
              <a:t>Algorithms and evaluation metrics</a:t>
            </a:r>
            <a:endParaRPr lang="en-US" sz="3600" dirty="0"/>
          </a:p>
        </p:txBody>
      </p:sp>
      <p:sp>
        <p:nvSpPr>
          <p:cNvPr id="4" name="Shape 2"/>
          <p:cNvSpPr/>
          <p:nvPr/>
        </p:nvSpPr>
        <p:spPr>
          <a:xfrm>
            <a:off x="0" y="2579688"/>
            <a:ext cx="5943451" cy="4278313"/>
          </a:xfrm>
          <a:prstGeom prst="rect">
            <a:avLst/>
          </a:prstGeom>
          <a:solidFill>
            <a:srgbClr val="ECFDF5"/>
          </a:solidFill>
          <a:ln/>
        </p:spPr>
      </p:sp>
      <p:sp>
        <p:nvSpPr>
          <p:cNvPr id="5" name="Text 3"/>
          <p:cNvSpPr/>
          <p:nvPr/>
        </p:nvSpPr>
        <p:spPr>
          <a:xfrm>
            <a:off x="152396" y="2741216"/>
            <a:ext cx="5638659" cy="420688"/>
          </a:xfrm>
          <a:prstGeom prst="rect">
            <a:avLst/>
          </a:prstGeom>
          <a:noFill/>
          <a:ln/>
        </p:spPr>
        <p:txBody>
          <a:bodyPr wrap="none" lIns="0" tIns="0" rIns="0" bIns="0" rtlCol="0" anchor="t"/>
          <a:lstStyle/>
          <a:p>
            <a:pPr algn="l" indent="0" marL="0">
              <a:lnSpc>
                <a:spcPct val="104000"/>
              </a:lnSpc>
              <a:buNone/>
            </a:pPr>
            <a:r>
              <a:rPr lang="en-US" sz="2650" dirty="0">
                <a:solidFill>
                  <a:srgbClr val="000000"/>
                </a:solidFill>
                <a:latin typeface="DM Sans SemiBold" pitchFamily="34" charset="0"/>
                <a:ea typeface="DM Sans SemiBold" pitchFamily="34" charset="-122"/>
                <a:cs typeface="DM Sans SemiBold" pitchFamily="34" charset="-120"/>
              </a:rPr>
              <a:t>Linear Regression</a:t>
            </a:r>
            <a:endParaRPr lang="en-US" sz="2650" dirty="0"/>
          </a:p>
        </p:txBody>
      </p:sp>
      <p:sp>
        <p:nvSpPr>
          <p:cNvPr id="6" name="Text 4"/>
          <p:cNvSpPr/>
          <p:nvPr/>
        </p:nvSpPr>
        <p:spPr>
          <a:xfrm>
            <a:off x="152396" y="3359150"/>
            <a:ext cx="5638659" cy="444500"/>
          </a:xfrm>
          <a:prstGeom prst="rect">
            <a:avLst/>
          </a:prstGeom>
          <a:noFill/>
          <a:ln/>
        </p:spPr>
        <p:txBody>
          <a:bodyPr wrap="square" lIns="0" tIns="0" rIns="0" bIns="0" rtlCol="0" anchor="t">
            <a:normAutofit/>
          </a:bodyPr>
          <a:lstStyle/>
          <a:p>
            <a:pPr algn="l" indent="0" marL="0">
              <a:lnSpc>
                <a:spcPct val="104000"/>
              </a:lnSpc>
              <a:buNone/>
            </a:pPr>
            <a:r>
              <a:rPr lang="en-US" sz="1400" dirty="0">
                <a:solidFill>
                  <a:srgbClr val="000000"/>
                </a:solidFill>
                <a:latin typeface="Inter Medium" pitchFamily="34" charset="0"/>
                <a:ea typeface="Inter Medium" pitchFamily="34" charset="-122"/>
                <a:cs typeface="Inter Medium" pitchFamily="34" charset="-120"/>
              </a:rPr>
              <a:t>Estimates a straight-line relationship between inputs and waste output.</a:t>
            </a:r>
            <a:endParaRPr lang="en-US" sz="1400" dirty="0"/>
          </a:p>
        </p:txBody>
      </p:sp>
      <p:sp>
        <p:nvSpPr>
          <p:cNvPr id="7" name="Text 5"/>
          <p:cNvSpPr/>
          <p:nvPr/>
        </p:nvSpPr>
        <p:spPr>
          <a:xfrm>
            <a:off x="152396" y="4206478"/>
            <a:ext cx="5638659" cy="420688"/>
          </a:xfrm>
          <a:prstGeom prst="rect">
            <a:avLst/>
          </a:prstGeom>
          <a:noFill/>
          <a:ln/>
        </p:spPr>
        <p:txBody>
          <a:bodyPr wrap="none" lIns="0" tIns="0" rIns="0" bIns="0" rtlCol="0" anchor="t"/>
          <a:lstStyle/>
          <a:p>
            <a:pPr algn="l" indent="0" marL="0">
              <a:lnSpc>
                <a:spcPct val="104000"/>
              </a:lnSpc>
              <a:buNone/>
            </a:pPr>
            <a:r>
              <a:rPr lang="en-US" sz="2650" dirty="0">
                <a:solidFill>
                  <a:srgbClr val="000000"/>
                </a:solidFill>
                <a:latin typeface="DM Sans SemiBold" pitchFamily="34" charset="0"/>
                <a:ea typeface="DM Sans SemiBold" pitchFamily="34" charset="-122"/>
                <a:cs typeface="DM Sans SemiBold" pitchFamily="34" charset="-120"/>
              </a:rPr>
              <a:t>Decision Tree Regression</a:t>
            </a:r>
            <a:endParaRPr lang="en-US" sz="2650" dirty="0"/>
          </a:p>
        </p:txBody>
      </p:sp>
      <p:sp>
        <p:nvSpPr>
          <p:cNvPr id="8" name="Text 6"/>
          <p:cNvSpPr/>
          <p:nvPr/>
        </p:nvSpPr>
        <p:spPr>
          <a:xfrm>
            <a:off x="152396" y="4824413"/>
            <a:ext cx="5791055" cy="222250"/>
          </a:xfrm>
          <a:prstGeom prst="rect">
            <a:avLst/>
          </a:prstGeom>
          <a:noFill/>
          <a:ln/>
        </p:spPr>
        <p:txBody>
          <a:bodyPr wrap="none" lIns="0" tIns="0" rIns="0" bIns="0" rtlCol="0" anchor="t"/>
          <a:lstStyle/>
          <a:p>
            <a:pPr algn="l" indent="0" marL="0">
              <a:lnSpc>
                <a:spcPct val="104000"/>
              </a:lnSpc>
              <a:buNone/>
            </a:pPr>
            <a:r>
              <a:rPr lang="en-US" sz="1400" dirty="0">
                <a:solidFill>
                  <a:srgbClr val="000000"/>
                </a:solidFill>
                <a:latin typeface="Inter Medium" pitchFamily="34" charset="0"/>
                <a:ea typeface="Inter Medium" pitchFamily="34" charset="-122"/>
                <a:cs typeface="Inter Medium" pitchFamily="34" charset="-120"/>
              </a:rPr>
              <a:t>Makes rule-based splits, such as by city or season.</a:t>
            </a:r>
            <a:endParaRPr lang="en-US" sz="1400" dirty="0"/>
          </a:p>
        </p:txBody>
      </p:sp>
      <p:sp>
        <p:nvSpPr>
          <p:cNvPr id="9" name="Text 7"/>
          <p:cNvSpPr/>
          <p:nvPr/>
        </p:nvSpPr>
        <p:spPr>
          <a:xfrm>
            <a:off x="152396" y="5449491"/>
            <a:ext cx="5638659" cy="420688"/>
          </a:xfrm>
          <a:prstGeom prst="rect">
            <a:avLst/>
          </a:prstGeom>
          <a:noFill/>
          <a:ln/>
        </p:spPr>
        <p:txBody>
          <a:bodyPr wrap="none" lIns="0" tIns="0" rIns="0" bIns="0" rtlCol="0" anchor="t"/>
          <a:lstStyle/>
          <a:p>
            <a:pPr algn="l" indent="0" marL="0">
              <a:lnSpc>
                <a:spcPct val="104000"/>
              </a:lnSpc>
              <a:buNone/>
            </a:pPr>
            <a:r>
              <a:rPr lang="en-US" sz="2650" dirty="0">
                <a:solidFill>
                  <a:srgbClr val="000000"/>
                </a:solidFill>
                <a:latin typeface="DM Sans SemiBold" pitchFamily="34" charset="0"/>
                <a:ea typeface="DM Sans SemiBold" pitchFamily="34" charset="-122"/>
                <a:cs typeface="DM Sans SemiBold" pitchFamily="34" charset="-120"/>
              </a:rPr>
              <a:t>Random Forest Regression</a:t>
            </a:r>
            <a:endParaRPr lang="en-US" sz="2650" dirty="0"/>
          </a:p>
        </p:txBody>
      </p:sp>
      <p:sp>
        <p:nvSpPr>
          <p:cNvPr id="10" name="Text 8"/>
          <p:cNvSpPr/>
          <p:nvPr/>
        </p:nvSpPr>
        <p:spPr>
          <a:xfrm>
            <a:off x="152396" y="6067425"/>
            <a:ext cx="5791055" cy="222250"/>
          </a:xfrm>
          <a:prstGeom prst="rect">
            <a:avLst/>
          </a:prstGeom>
          <a:noFill/>
          <a:ln/>
        </p:spPr>
        <p:txBody>
          <a:bodyPr wrap="none" lIns="0" tIns="0" rIns="0" bIns="0" rtlCol="0" anchor="t"/>
          <a:lstStyle/>
          <a:p>
            <a:pPr algn="l" indent="0" marL="0">
              <a:lnSpc>
                <a:spcPct val="104000"/>
              </a:lnSpc>
              <a:buNone/>
            </a:pPr>
            <a:r>
              <a:rPr lang="en-US" sz="1400" dirty="0">
                <a:solidFill>
                  <a:srgbClr val="000000"/>
                </a:solidFill>
                <a:latin typeface="Inter Medium" pitchFamily="34" charset="0"/>
                <a:ea typeface="Inter Medium" pitchFamily="34" charset="-122"/>
                <a:cs typeface="Inter Medium" pitchFamily="34" charset="-120"/>
              </a:rPr>
              <a:t>Combines many decision trees for stability and accuracy.</a:t>
            </a:r>
            <a:endParaRPr lang="en-US" sz="1400" dirty="0"/>
          </a:p>
        </p:txBody>
      </p:sp>
      <p:sp>
        <p:nvSpPr>
          <p:cNvPr id="11" name="Shape 9"/>
          <p:cNvSpPr/>
          <p:nvPr/>
        </p:nvSpPr>
        <p:spPr>
          <a:xfrm>
            <a:off x="6248244" y="2579688"/>
            <a:ext cx="5943451" cy="4278313"/>
          </a:xfrm>
          <a:prstGeom prst="rect">
            <a:avLst/>
          </a:prstGeom>
          <a:solidFill>
            <a:srgbClr val="102A43"/>
          </a:solidFill>
          <a:ln/>
        </p:spPr>
      </p:sp>
      <p:sp>
        <p:nvSpPr>
          <p:cNvPr id="12" name="Text 10"/>
          <p:cNvSpPr/>
          <p:nvPr/>
        </p:nvSpPr>
        <p:spPr>
          <a:xfrm>
            <a:off x="6400640" y="2741216"/>
            <a:ext cx="5638659" cy="420688"/>
          </a:xfrm>
          <a:prstGeom prst="rect">
            <a:avLst/>
          </a:prstGeom>
          <a:noFill/>
          <a:ln/>
        </p:spPr>
        <p:txBody>
          <a:bodyPr wrap="none" lIns="0" tIns="0" rIns="0" bIns="0" rtlCol="0" anchor="t"/>
          <a:lstStyle/>
          <a:p>
            <a:pPr algn="l" indent="0" marL="0">
              <a:lnSpc>
                <a:spcPct val="104000"/>
              </a:lnSpc>
              <a:buNone/>
            </a:pPr>
            <a:r>
              <a:rPr lang="en-US" sz="2650" dirty="0">
                <a:solidFill>
                  <a:srgbClr val="FFFFFF"/>
                </a:solidFill>
                <a:latin typeface="DM Sans SemiBold" pitchFamily="34" charset="0"/>
                <a:ea typeface="DM Sans SemiBold" pitchFamily="34" charset="-122"/>
                <a:cs typeface="DM Sans SemiBold" pitchFamily="34" charset="-120"/>
              </a:rPr>
              <a:t>MAE</a:t>
            </a:r>
            <a:endParaRPr lang="en-US" sz="2650" dirty="0"/>
          </a:p>
        </p:txBody>
      </p:sp>
      <p:sp>
        <p:nvSpPr>
          <p:cNvPr id="13" name="Text 11"/>
          <p:cNvSpPr/>
          <p:nvPr/>
        </p:nvSpPr>
        <p:spPr>
          <a:xfrm>
            <a:off x="6400640" y="3359150"/>
            <a:ext cx="5791055" cy="222250"/>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Inter Medium" pitchFamily="34" charset="0"/>
                <a:ea typeface="Inter Medium" pitchFamily="34" charset="-122"/>
                <a:cs typeface="Inter Medium" pitchFamily="34" charset="-120"/>
              </a:rPr>
              <a:t>Average absolute error; lower is better.</a:t>
            </a:r>
            <a:endParaRPr lang="en-US" sz="1400" dirty="0"/>
          </a:p>
        </p:txBody>
      </p:sp>
      <p:sp>
        <p:nvSpPr>
          <p:cNvPr id="14" name="Text 12"/>
          <p:cNvSpPr/>
          <p:nvPr/>
        </p:nvSpPr>
        <p:spPr>
          <a:xfrm>
            <a:off x="6400640" y="3984228"/>
            <a:ext cx="5638659" cy="420688"/>
          </a:xfrm>
          <a:prstGeom prst="rect">
            <a:avLst/>
          </a:prstGeom>
          <a:noFill/>
          <a:ln/>
        </p:spPr>
        <p:txBody>
          <a:bodyPr wrap="none" lIns="0" tIns="0" rIns="0" bIns="0" rtlCol="0" anchor="t"/>
          <a:lstStyle/>
          <a:p>
            <a:pPr algn="l" indent="0" marL="0">
              <a:lnSpc>
                <a:spcPct val="104000"/>
              </a:lnSpc>
              <a:buNone/>
            </a:pPr>
            <a:r>
              <a:rPr lang="en-US" sz="2650" dirty="0">
                <a:solidFill>
                  <a:srgbClr val="FFFFFF"/>
                </a:solidFill>
                <a:latin typeface="DM Sans SemiBold" pitchFamily="34" charset="0"/>
                <a:ea typeface="DM Sans SemiBold" pitchFamily="34" charset="-122"/>
                <a:cs typeface="DM Sans SemiBold" pitchFamily="34" charset="-120"/>
              </a:rPr>
              <a:t>RMSE</a:t>
            </a:r>
            <a:endParaRPr lang="en-US" sz="2650" dirty="0"/>
          </a:p>
        </p:txBody>
      </p:sp>
      <p:sp>
        <p:nvSpPr>
          <p:cNvPr id="15" name="Text 13"/>
          <p:cNvSpPr/>
          <p:nvPr/>
        </p:nvSpPr>
        <p:spPr>
          <a:xfrm>
            <a:off x="6400640" y="4602163"/>
            <a:ext cx="5791055" cy="222250"/>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Inter Medium" pitchFamily="34" charset="0"/>
                <a:ea typeface="Inter Medium" pitchFamily="34" charset="-122"/>
                <a:cs typeface="Inter Medium" pitchFamily="34" charset="-120"/>
              </a:rPr>
              <a:t>Gives more weight to larger errors; lower is better.</a:t>
            </a:r>
            <a:endParaRPr lang="en-US" sz="1400" dirty="0"/>
          </a:p>
        </p:txBody>
      </p:sp>
      <p:sp>
        <p:nvSpPr>
          <p:cNvPr id="16" name="Text 14"/>
          <p:cNvSpPr/>
          <p:nvPr/>
        </p:nvSpPr>
        <p:spPr>
          <a:xfrm>
            <a:off x="6400640" y="5227241"/>
            <a:ext cx="5638659" cy="420688"/>
          </a:xfrm>
          <a:prstGeom prst="rect">
            <a:avLst/>
          </a:prstGeom>
          <a:noFill/>
          <a:ln/>
        </p:spPr>
        <p:txBody>
          <a:bodyPr wrap="none" lIns="0" tIns="0" rIns="0" bIns="0" rtlCol="0" anchor="t"/>
          <a:lstStyle/>
          <a:p>
            <a:pPr algn="l" indent="0" marL="0">
              <a:lnSpc>
                <a:spcPct val="104000"/>
              </a:lnSpc>
              <a:buNone/>
            </a:pPr>
            <a:r>
              <a:rPr lang="en-US" sz="2650" dirty="0">
                <a:solidFill>
                  <a:srgbClr val="FFFFFF"/>
                </a:solidFill>
                <a:latin typeface="DM Sans SemiBold" pitchFamily="34" charset="0"/>
                <a:ea typeface="DM Sans SemiBold" pitchFamily="34" charset="-122"/>
                <a:cs typeface="DM Sans SemiBold" pitchFamily="34" charset="-120"/>
              </a:rPr>
              <a:t>R²</a:t>
            </a:r>
            <a:endParaRPr lang="en-US" sz="2650" dirty="0"/>
          </a:p>
        </p:txBody>
      </p:sp>
      <p:sp>
        <p:nvSpPr>
          <p:cNvPr id="17" name="Text 15"/>
          <p:cNvSpPr/>
          <p:nvPr/>
        </p:nvSpPr>
        <p:spPr>
          <a:xfrm>
            <a:off x="6400640" y="5838825"/>
            <a:ext cx="5638659" cy="866775"/>
          </a:xfrm>
          <a:prstGeom prst="rect">
            <a:avLst/>
          </a:prstGeom>
          <a:noFill/>
          <a:ln/>
        </p:spPr>
        <p:txBody>
          <a:bodyPr wrap="square" lIns="0" tIns="0" rIns="0" bIns="0" rtlCol="0" anchor="t"/>
          <a:lstStyle/>
          <a:p>
            <a:pPr algn="l" indent="0" marL="0">
              <a:lnSpc>
                <a:spcPct val="104000"/>
              </a:lnSpc>
              <a:spcAft>
                <a:spcPts val="1550"/>
              </a:spcAft>
              <a:buNone/>
            </a:pPr>
            <a:r>
              <a:rPr lang="en-US" sz="1400" dirty="0">
                <a:solidFill>
                  <a:srgbClr val="FFFFFF"/>
                </a:solidFill>
                <a:latin typeface="Inter Medium" pitchFamily="34" charset="0"/>
                <a:ea typeface="Inter Medium" pitchFamily="34" charset="-122"/>
                <a:cs typeface="Inter Medium" pitchFamily="34" charset="-120"/>
              </a:rPr>
              <a:t>Share of variation explained; closer to 1 is better.</a:t>
            </a:r>
            <a:endParaRPr lang="en-US" sz="1400" dirty="0"/>
          </a:p>
          <a:p>
            <a:pPr algn="l" indent="0" marL="0">
              <a:lnSpc>
                <a:spcPct val="104000"/>
              </a:lnSpc>
              <a:buNone/>
            </a:pPr>
            <a:r>
              <a:rPr lang="en-US" sz="1400" dirty="0">
                <a:solidFill>
                  <a:srgbClr val="FFFFFF"/>
                </a:solidFill>
                <a:latin typeface="Inter Medium" pitchFamily="34" charset="0"/>
                <a:ea typeface="Inter Medium" pitchFamily="34" charset="-122"/>
                <a:cs typeface="Inter Medium" pitchFamily="34" charset="-120"/>
              </a:rPr>
              <a:t>MAE = mean |actual − predicted| · RMSE = √mean(actual − predicted)² · R² compares explained with total variation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949450"/>
          </a:xfrm>
          <a:prstGeom prst="rect">
            <a:avLst/>
          </a:prstGeom>
          <a:solidFill>
            <a:srgbClr val="0D9488"/>
          </a:solidFill>
          <a:ln/>
        </p:spPr>
      </p:sp>
      <p:sp>
        <p:nvSpPr>
          <p:cNvPr id="3" name="Text 1"/>
          <p:cNvSpPr/>
          <p:nvPr/>
        </p:nvSpPr>
        <p:spPr>
          <a:xfrm>
            <a:off x="152396" y="162322"/>
            <a:ext cx="11886903" cy="569813"/>
          </a:xfrm>
          <a:prstGeom prst="rect">
            <a:avLst/>
          </a:prstGeom>
          <a:noFill/>
          <a:ln/>
        </p:spPr>
        <p:txBody>
          <a:bodyPr wrap="none" lIns="0" tIns="0" rIns="0" bIns="0" rtlCol="0" anchor="t"/>
          <a:lstStyle/>
          <a:p>
            <a:pPr algn="l" indent="0" marL="0">
              <a:lnSpc>
                <a:spcPct val="104000"/>
              </a:lnSpc>
              <a:buNone/>
            </a:pPr>
            <a:r>
              <a:rPr lang="en-US" sz="3600" dirty="0">
                <a:solidFill>
                  <a:srgbClr val="FFFFFF"/>
                </a:solidFill>
                <a:latin typeface="DM Sans SemiBold" pitchFamily="34" charset="0"/>
                <a:ea typeface="DM Sans SemiBold" pitchFamily="34" charset="-122"/>
                <a:cs typeface="DM Sans SemiBold" pitchFamily="34" charset="-120"/>
              </a:rPr>
              <a:t>Waste generation model comparison</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585" y="3016250"/>
          <a:ext cx="5516821" cy="914400"/>
        </p:xfrm>
        <a:graphic>
          <a:graphicData uri="http://schemas.openxmlformats.org/drawingml/2006/table">
            <a:tbl>
              <a:tblPr/>
              <a:tblGrid>
                <a:gridCol w="1379205"/>
                <a:gridCol w="1379205"/>
                <a:gridCol w="1379205"/>
                <a:gridCol w="1379205"/>
              </a:tblGrid>
              <a:tr h="370672">
                <a:tc>
                  <a:txBody>
                    <a:bodyPr/>
                    <a:lstStyle/>
                    <a:p>
                      <a:pPr algn="l" indent="0" marL="0">
                        <a:buNone/>
                      </a:pPr>
                      <a:r>
                        <a:rPr lang="en-US" sz="1400" dirty="0">
                          <a:solidFill>
                            <a:srgbClr val="030303"/>
                          </a:solidFill>
                          <a:latin typeface="Inter Medium" pitchFamily="34" charset="0"/>
                          <a:ea typeface="Inter Medium" pitchFamily="34" charset="-122"/>
                          <a:cs typeface="Inter Medium" pitchFamily="34" charset="-120"/>
                        </a:rPr>
                        <a:t>Model</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c>
                  <a:txBody>
                    <a:bodyPr/>
                    <a:lstStyle/>
                    <a:p>
                      <a:pPr algn="l" indent="0" marL="0">
                        <a:buNone/>
                      </a:pPr>
                      <a:r>
                        <a:rPr lang="en-US" sz="1400" dirty="0">
                          <a:solidFill>
                            <a:srgbClr val="030303"/>
                          </a:solidFill>
                          <a:latin typeface="Inter Medium" pitchFamily="34" charset="0"/>
                          <a:ea typeface="Inter Medium" pitchFamily="34" charset="-122"/>
                          <a:cs typeface="Inter Medium" pitchFamily="34" charset="-120"/>
                        </a:rPr>
                        <a:t>MAE</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c>
                  <a:txBody>
                    <a:bodyPr/>
                    <a:lstStyle/>
                    <a:p>
                      <a:pPr algn="l" indent="0" marL="0">
                        <a:buNone/>
                      </a:pPr>
                      <a:r>
                        <a:rPr lang="en-US" sz="1400" dirty="0">
                          <a:solidFill>
                            <a:srgbClr val="030303"/>
                          </a:solidFill>
                          <a:latin typeface="Inter Medium" pitchFamily="34" charset="0"/>
                          <a:ea typeface="Inter Medium" pitchFamily="34" charset="-122"/>
                          <a:cs typeface="Inter Medium" pitchFamily="34" charset="-120"/>
                        </a:rPr>
                        <a:t>RMSE</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c>
                  <a:txBody>
                    <a:bodyPr/>
                    <a:lstStyle/>
                    <a:p>
                      <a:pPr algn="l" indent="0" marL="0">
                        <a:buNone/>
                      </a:pPr>
                      <a:r>
                        <a:rPr lang="en-US" sz="1400" dirty="0">
                          <a:solidFill>
                            <a:srgbClr val="030303"/>
                          </a:solidFill>
                          <a:latin typeface="Inter Medium" pitchFamily="34" charset="0"/>
                          <a:ea typeface="Inter Medium" pitchFamily="34" charset="-122"/>
                          <a:cs typeface="Inter Medium" pitchFamily="34" charset="-120"/>
                        </a:rPr>
                        <a:t>R²</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r>
              <a:tr h="592916">
                <a:tc>
                  <a:txBody>
                    <a:bodyPr/>
                    <a:lstStyle/>
                    <a:p>
                      <a:pPr algn="l" indent="0" marL="0">
                        <a:buNone/>
                      </a:pPr>
                      <a:r>
                        <a:rPr lang="en-US" sz="1400" dirty="0">
                          <a:solidFill>
                            <a:srgbClr val="464646"/>
                          </a:solidFill>
                          <a:latin typeface="Inter Medium" pitchFamily="34" charset="0"/>
                          <a:ea typeface="Inter Medium" pitchFamily="34" charset="-122"/>
                          <a:cs typeface="Inter Medium" pitchFamily="34" charset="-120"/>
                        </a:rPr>
                        <a:t>Linear Regression</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c>
                  <a:txBody>
                    <a:bodyPr/>
                    <a:lstStyle/>
                    <a:p>
                      <a:pPr algn="l" indent="0" marL="0">
                        <a:buNone/>
                      </a:pPr>
                      <a:r>
                        <a:rPr lang="en-US" sz="1400" dirty="0">
                          <a:solidFill>
                            <a:srgbClr val="464646"/>
                          </a:solidFill>
                          <a:latin typeface="Inter Medium" pitchFamily="34" charset="0"/>
                          <a:ea typeface="Inter Medium" pitchFamily="34" charset="-122"/>
                          <a:cs typeface="Inter Medium" pitchFamily="34" charset="-120"/>
                        </a:rPr>
                        <a:t>20.2472</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c>
                  <a:txBody>
                    <a:bodyPr/>
                    <a:lstStyle/>
                    <a:p>
                      <a:pPr algn="l" indent="0" marL="0">
                        <a:buNone/>
                      </a:pPr>
                      <a:r>
                        <a:rPr lang="en-US" sz="1400" dirty="0">
                          <a:solidFill>
                            <a:srgbClr val="464646"/>
                          </a:solidFill>
                          <a:latin typeface="Inter Medium" pitchFamily="34" charset="0"/>
                          <a:ea typeface="Inter Medium" pitchFamily="34" charset="-122"/>
                          <a:cs typeface="Inter Medium" pitchFamily="34" charset="-120"/>
                        </a:rPr>
                        <a:t>60.7695</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c>
                  <a:txBody>
                    <a:bodyPr/>
                    <a:lstStyle/>
                    <a:p>
                      <a:pPr algn="l" indent="0" marL="0">
                        <a:buNone/>
                      </a:pPr>
                      <a:r>
                        <a:rPr lang="en-US" sz="1400" dirty="0">
                          <a:solidFill>
                            <a:srgbClr val="464646"/>
                          </a:solidFill>
                          <a:latin typeface="Inter Medium" pitchFamily="34" charset="0"/>
                          <a:ea typeface="Inter Medium" pitchFamily="34" charset="-122"/>
                          <a:cs typeface="Inter Medium" pitchFamily="34" charset="-120"/>
                        </a:rPr>
                        <a:t>0.9880</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r>
              <a:tr h="815161">
                <a:tc>
                  <a:txBody>
                    <a:bodyPr/>
                    <a:lstStyle/>
                    <a:p>
                      <a:pPr algn="l" indent="0" marL="0">
                        <a:buNone/>
                      </a:pPr>
                      <a:r>
                        <a:rPr lang="en-US" sz="1400" dirty="0">
                          <a:solidFill>
                            <a:srgbClr val="464646"/>
                          </a:solidFill>
                          <a:latin typeface="Inter Medium" pitchFamily="34" charset="0"/>
                          <a:ea typeface="Inter Medium" pitchFamily="34" charset="-122"/>
                          <a:cs typeface="Inter Medium" pitchFamily="34" charset="-120"/>
                        </a:rPr>
                        <a:t>Decision Tree Regression</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c>
                  <a:txBody>
                    <a:bodyPr/>
                    <a:lstStyle/>
                    <a:p>
                      <a:pPr algn="l" indent="0" marL="0">
                        <a:buNone/>
                      </a:pPr>
                      <a:r>
                        <a:rPr lang="en-US" sz="1400" dirty="0">
                          <a:solidFill>
                            <a:srgbClr val="464646"/>
                          </a:solidFill>
                          <a:latin typeface="Inter Medium" pitchFamily="34" charset="0"/>
                          <a:ea typeface="Inter Medium" pitchFamily="34" charset="-122"/>
                          <a:cs typeface="Inter Medium" pitchFamily="34" charset="-120"/>
                        </a:rPr>
                        <a:t>14.4111</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c>
                  <a:txBody>
                    <a:bodyPr/>
                    <a:lstStyle/>
                    <a:p>
                      <a:pPr algn="l" indent="0" marL="0">
                        <a:buNone/>
                      </a:pPr>
                      <a:r>
                        <a:rPr lang="en-US" sz="1400" dirty="0">
                          <a:solidFill>
                            <a:srgbClr val="464646"/>
                          </a:solidFill>
                          <a:latin typeface="Inter Medium" pitchFamily="34" charset="0"/>
                          <a:ea typeface="Inter Medium" pitchFamily="34" charset="-122"/>
                          <a:cs typeface="Inter Medium" pitchFamily="34" charset="-120"/>
                        </a:rPr>
                        <a:t>52.1382</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c>
                  <a:txBody>
                    <a:bodyPr/>
                    <a:lstStyle/>
                    <a:p>
                      <a:pPr algn="l" indent="0" marL="0">
                        <a:buNone/>
                      </a:pPr>
                      <a:r>
                        <a:rPr lang="en-US" sz="1400" dirty="0">
                          <a:solidFill>
                            <a:srgbClr val="464646"/>
                          </a:solidFill>
                          <a:latin typeface="Inter Medium" pitchFamily="34" charset="0"/>
                          <a:ea typeface="Inter Medium" pitchFamily="34" charset="-122"/>
                          <a:cs typeface="Inter Medium" pitchFamily="34" charset="-120"/>
                        </a:rPr>
                        <a:t>0.9911</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C0D7C5"/>
                      </a:solidFill>
                      <a:prstDash val="solid"/>
                      <a:round/>
                      <a:headEnd type="none" w="med" len="med"/>
                      <a:tailEnd type="none" w="med" len="med"/>
                    </a:lnB>
                  </a:tcPr>
                </a:tc>
              </a:tr>
              <a:tr h="808811">
                <a:tc>
                  <a:txBody>
                    <a:bodyPr/>
                    <a:lstStyle/>
                    <a:p>
                      <a:pPr algn="l" indent="0" marL="0">
                        <a:buNone/>
                      </a:pPr>
                      <a:r>
                        <a:rPr lang="en-US" sz="1400" dirty="0">
                          <a:solidFill>
                            <a:srgbClr val="FFFFFF"/>
                          </a:solidFill>
                          <a:latin typeface="Inter Medium" pitchFamily="34" charset="0"/>
                          <a:ea typeface="Inter Medium" pitchFamily="34" charset="-122"/>
                          <a:cs typeface="Inter Medium" pitchFamily="34" charset="-120"/>
                        </a:rPr>
                        <a:t>Random Forest Regression</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047857"/>
                      </a:solidFill>
                      <a:prstDash val="solid"/>
                      <a:round/>
                      <a:headEnd type="none" w="med" len="med"/>
                      <a:tailEnd type="none" w="med" len="med"/>
                    </a:lnL>
                    <a:lnR w="12700" cap="flat" cmpd="sng" algn="ctr">
                      <a:solidFill>
                        <a:srgbClr val="047857"/>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047857"/>
                      </a:solidFill>
                      <a:prstDash val="solid"/>
                      <a:round/>
                      <a:headEnd type="none" w="med" len="med"/>
                      <a:tailEnd type="none" w="med" len="med"/>
                    </a:lnB>
                    <a:solidFill>
                      <a:srgbClr val="047857"/>
                    </a:solidFill>
                  </a:tcPr>
                </a:tc>
                <a:tc>
                  <a:txBody>
                    <a:bodyPr/>
                    <a:lstStyle/>
                    <a:p>
                      <a:pPr algn="l" indent="0" marL="0">
                        <a:buNone/>
                      </a:pPr>
                      <a:r>
                        <a:rPr lang="en-US" sz="1400" dirty="0">
                          <a:solidFill>
                            <a:srgbClr val="FFFFFF"/>
                          </a:solidFill>
                          <a:latin typeface="Inter Medium" pitchFamily="34" charset="0"/>
                          <a:ea typeface="Inter Medium" pitchFamily="34" charset="-122"/>
                          <a:cs typeface="Inter Medium" pitchFamily="34" charset="-120"/>
                        </a:rPr>
                        <a:t>10.3137</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047857"/>
                      </a:solidFill>
                      <a:prstDash val="solid"/>
                      <a:round/>
                      <a:headEnd type="none" w="med" len="med"/>
                      <a:tailEnd type="none" w="med" len="med"/>
                    </a:lnL>
                    <a:lnR w="12700" cap="flat" cmpd="sng" algn="ctr">
                      <a:solidFill>
                        <a:srgbClr val="047857"/>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047857"/>
                      </a:solidFill>
                      <a:prstDash val="solid"/>
                      <a:round/>
                      <a:headEnd type="none" w="med" len="med"/>
                      <a:tailEnd type="none" w="med" len="med"/>
                    </a:lnB>
                    <a:solidFill>
                      <a:srgbClr val="047857"/>
                    </a:solidFill>
                  </a:tcPr>
                </a:tc>
                <a:tc>
                  <a:txBody>
                    <a:bodyPr/>
                    <a:lstStyle/>
                    <a:p>
                      <a:pPr algn="l" indent="0" marL="0">
                        <a:buNone/>
                      </a:pPr>
                      <a:r>
                        <a:rPr lang="en-US" sz="1400" dirty="0">
                          <a:solidFill>
                            <a:srgbClr val="FFFFFF"/>
                          </a:solidFill>
                          <a:latin typeface="Inter Medium" pitchFamily="34" charset="0"/>
                          <a:ea typeface="Inter Medium" pitchFamily="34" charset="-122"/>
                          <a:cs typeface="Inter Medium" pitchFamily="34" charset="-120"/>
                        </a:rPr>
                        <a:t>36.2488</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047857"/>
                      </a:solidFill>
                      <a:prstDash val="solid"/>
                      <a:round/>
                      <a:headEnd type="none" w="med" len="med"/>
                      <a:tailEnd type="none" w="med" len="med"/>
                    </a:lnL>
                    <a:lnR w="12700" cap="flat" cmpd="sng" algn="ctr">
                      <a:solidFill>
                        <a:srgbClr val="047857"/>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047857"/>
                      </a:solidFill>
                      <a:prstDash val="solid"/>
                      <a:round/>
                      <a:headEnd type="none" w="med" len="med"/>
                      <a:tailEnd type="none" w="med" len="med"/>
                    </a:lnB>
                    <a:solidFill>
                      <a:srgbClr val="047857"/>
                    </a:solidFill>
                  </a:tcPr>
                </a:tc>
                <a:tc>
                  <a:txBody>
                    <a:bodyPr/>
                    <a:lstStyle/>
                    <a:p>
                      <a:pPr algn="l" indent="0" marL="0">
                        <a:buNone/>
                      </a:pPr>
                      <a:r>
                        <a:rPr lang="en-US" sz="1400" dirty="0">
                          <a:solidFill>
                            <a:srgbClr val="FFFFFF"/>
                          </a:solidFill>
                          <a:latin typeface="Inter Medium" pitchFamily="34" charset="0"/>
                          <a:ea typeface="Inter Medium" pitchFamily="34" charset="-122"/>
                          <a:cs typeface="Inter Medium" pitchFamily="34" charset="-120"/>
                        </a:rPr>
                        <a:t>0.9957</a:t>
                      </a:r>
                      <a:endParaRPr lang="en-US" sz="1400" dirty="0">
                        <a:latin typeface="Inter Medium" charset="0"/>
                        <a:ea typeface="Inter Medium" charset="0"/>
                        <a:cs typeface="Inter Medium" charset="0"/>
                      </a:endParaRPr>
                    </a:p>
                  </a:txBody>
                  <a:tcPr marL="133347" marR="133347" marT="71118" marB="71118" anchor="ctr">
                    <a:lnL w="12700" cap="flat" cmpd="sng" algn="ctr">
                      <a:solidFill>
                        <a:srgbClr val="047857"/>
                      </a:solidFill>
                      <a:prstDash val="solid"/>
                      <a:round/>
                      <a:headEnd type="none" w="med" len="med"/>
                      <a:tailEnd type="none" w="med" len="med"/>
                    </a:lnL>
                    <a:lnR w="12700" cap="flat" cmpd="sng" algn="ctr">
                      <a:solidFill>
                        <a:srgbClr val="047857"/>
                      </a:solidFill>
                      <a:prstDash val="solid"/>
                      <a:round/>
                      <a:headEnd type="none" w="med" len="med"/>
                      <a:tailEnd type="none" w="med" len="med"/>
                    </a:lnR>
                    <a:lnT w="12700" cap="flat" cmpd="sng" algn="ctr">
                      <a:solidFill>
                        <a:srgbClr val="C0D7C5"/>
                      </a:solidFill>
                      <a:prstDash val="solid"/>
                      <a:round/>
                      <a:headEnd type="none" w="med" len="med"/>
                      <a:tailEnd type="none" w="med" len="med"/>
                    </a:lnT>
                    <a:lnB w="12700" cap="flat" cmpd="sng" algn="ctr">
                      <a:solidFill>
                        <a:srgbClr val="047857"/>
                      </a:solidFill>
                      <a:prstDash val="solid"/>
                      <a:round/>
                      <a:headEnd type="none" w="med" len="med"/>
                      <a:tailEnd type="none" w="med" len="med"/>
                    </a:lnB>
                    <a:solidFill>
                      <a:srgbClr val="047857"/>
                    </a:solidFill>
                  </a:tcPr>
                </a:tc>
              </a:tr>
            </a:tbl>
          </a:graphicData>
        </a:graphic>
      </p:graphicFrame>
      <p:sp>
        <p:nvSpPr>
          <p:cNvPr id="5" name="Text 2"/>
          <p:cNvSpPr/>
          <p:nvPr/>
        </p:nvSpPr>
        <p:spPr>
          <a:xfrm>
            <a:off x="609585" y="5810250"/>
            <a:ext cx="5516821" cy="444500"/>
          </a:xfrm>
          <a:prstGeom prst="rect">
            <a:avLst/>
          </a:prstGeom>
          <a:noFill/>
          <a:ln/>
        </p:spPr>
        <p:txBody>
          <a:bodyPr wrap="square" lIns="0" tIns="0" rIns="0" bIns="0" rtlCol="0" anchor="t">
            <a:normAutofit/>
          </a:bodyPr>
          <a:lstStyle/>
          <a:p>
            <a:pPr algn="l" indent="0" marL="0">
              <a:lnSpc>
                <a:spcPct val="104000"/>
              </a:lnSpc>
              <a:buNone/>
            </a:pPr>
            <a:r>
              <a:rPr lang="en-US" sz="1400" dirty="0">
                <a:solidFill>
                  <a:srgbClr val="464646"/>
                </a:solidFill>
                <a:latin typeface="Inter Medium" pitchFamily="34" charset="0"/>
                <a:ea typeface="Inter Medium" pitchFamily="34" charset="-122"/>
                <a:cs typeface="Inter Medium" pitchFamily="34" charset="-120"/>
              </a:rPr>
              <a:t>Random Forest is the best-performing waste-generation model on all three metrics.</a:t>
            </a:r>
            <a:endParaRPr lang="en-US" sz="1400" dirty="0"/>
          </a:p>
        </p:txBody>
      </p:sp>
      <p:pic>
        <p:nvPicPr>
          <p:cNvPr id="6" name="Image 0" descr="preencoded.png">    </p:cNvPr>
          <p:cNvPicPr>
            <a:picLocks noChangeAspect="1"/>
          </p:cNvPicPr>
          <p:nvPr/>
        </p:nvPicPr>
        <p:blipFill>
          <a:blip r:embed="rId1"/>
          <a:stretch>
            <a:fillRect/>
          </a:stretch>
        </p:blipFill>
        <p:spPr>
          <a:xfrm>
            <a:off x="7650269" y="3016250"/>
            <a:ext cx="3931841" cy="16376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847725"/>
          </a:xfrm>
          <a:prstGeom prst="rect">
            <a:avLst/>
          </a:prstGeom>
          <a:solidFill>
            <a:srgbClr val="0D9488"/>
          </a:solidFill>
          <a:ln/>
        </p:spPr>
      </p:sp>
      <p:sp>
        <p:nvSpPr>
          <p:cNvPr id="3" name="Text 1"/>
          <p:cNvSpPr/>
          <p:nvPr/>
        </p:nvSpPr>
        <p:spPr>
          <a:xfrm>
            <a:off x="152396" y="164283"/>
            <a:ext cx="11886903" cy="542925"/>
          </a:xfrm>
          <a:prstGeom prst="rect">
            <a:avLst/>
          </a:prstGeom>
          <a:noFill/>
          <a:ln/>
        </p:spPr>
        <p:txBody>
          <a:bodyPr wrap="none" lIns="0" tIns="0" rIns="0" bIns="0" rtlCol="0" anchor="t"/>
          <a:lstStyle/>
          <a:p>
            <a:pPr algn="l" indent="0" marL="0">
              <a:lnSpc>
                <a:spcPct val="104000"/>
              </a:lnSpc>
              <a:buNone/>
            </a:pPr>
            <a:r>
              <a:rPr lang="en-US" sz="3400" dirty="0">
                <a:solidFill>
                  <a:srgbClr val="FFFFFF"/>
                </a:solidFill>
                <a:latin typeface="DM Sans SemiBold" pitchFamily="34" charset="0"/>
                <a:ea typeface="DM Sans SemiBold" pitchFamily="34" charset="-122"/>
                <a:cs typeface="DM Sans SemiBold" pitchFamily="34" charset="-120"/>
              </a:rPr>
              <a:t>Recycling-rate model and calculations</a:t>
            </a:r>
            <a:endParaRPr lang="en-US" sz="3400" dirty="0"/>
          </a:p>
        </p:txBody>
      </p:sp>
      <p:sp>
        <p:nvSpPr>
          <p:cNvPr id="4" name="Shape 2"/>
          <p:cNvSpPr/>
          <p:nvPr/>
        </p:nvSpPr>
        <p:spPr>
          <a:xfrm>
            <a:off x="609585" y="1457325"/>
            <a:ext cx="5333867" cy="2199779"/>
          </a:xfrm>
          <a:prstGeom prst="rect">
            <a:avLst/>
          </a:prstGeom>
          <a:solidFill>
            <a:srgbClr val="ECFDF5"/>
          </a:solidFill>
          <a:ln/>
        </p:spPr>
      </p:sp>
      <p:sp>
        <p:nvSpPr>
          <p:cNvPr id="5" name="Text 3"/>
          <p:cNvSpPr/>
          <p:nvPr/>
        </p:nvSpPr>
        <p:spPr>
          <a:xfrm>
            <a:off x="761981" y="1619054"/>
            <a:ext cx="5029074" cy="400844"/>
          </a:xfrm>
          <a:prstGeom prst="rect">
            <a:avLst/>
          </a:prstGeom>
          <a:noFill/>
          <a:ln/>
        </p:spPr>
        <p:txBody>
          <a:bodyPr wrap="none" lIns="0" tIns="0" rIns="0" bIns="0" rtlCol="0" anchor="t"/>
          <a:lstStyle/>
          <a:p>
            <a:pPr algn="l" indent="0" marL="0">
              <a:lnSpc>
                <a:spcPct val="104000"/>
              </a:lnSpc>
              <a:buNone/>
            </a:pPr>
            <a:r>
              <a:rPr lang="en-US" sz="2500" dirty="0">
                <a:solidFill>
                  <a:srgbClr val="000000"/>
                </a:solidFill>
                <a:latin typeface="DM Sans SemiBold" pitchFamily="34" charset="0"/>
                <a:ea typeface="DM Sans SemiBold" pitchFamily="34" charset="-122"/>
                <a:cs typeface="DM Sans SemiBold" pitchFamily="34" charset="-120"/>
              </a:rPr>
              <a:t>Recycling-rate model</a:t>
            </a:r>
            <a:endParaRPr lang="en-US" sz="2500" dirty="0"/>
          </a:p>
        </p:txBody>
      </p:sp>
      <p:sp>
        <p:nvSpPr>
          <p:cNvPr id="6" name="Text 4"/>
          <p:cNvSpPr/>
          <p:nvPr/>
        </p:nvSpPr>
        <p:spPr>
          <a:xfrm>
            <a:off x="761981" y="2120604"/>
            <a:ext cx="5029074" cy="413345"/>
          </a:xfrm>
          <a:prstGeom prst="rect">
            <a:avLst/>
          </a:prstGeom>
          <a:noFill/>
          <a:ln/>
        </p:spPr>
        <p:txBody>
          <a:bodyPr wrap="square" lIns="0" tIns="0" rIns="0" bIns="0" rtlCol="0" anchor="t">
            <a:normAutofit/>
          </a:bodyPr>
          <a:lstStyle/>
          <a:p>
            <a:pPr algn="l" indent="0" marL="0">
              <a:lnSpc>
                <a:spcPct val="102000"/>
              </a:lnSpc>
              <a:buNone/>
            </a:pPr>
            <a:r>
              <a:rPr lang="en-US" sz="1350" dirty="0">
                <a:solidFill>
                  <a:srgbClr val="000000"/>
                </a:solidFill>
                <a:latin typeface="Inter Medium" pitchFamily="34" charset="0"/>
                <a:ea typeface="Inter Medium" pitchFamily="34" charset="-122"/>
                <a:cs typeface="Inter Medium" pitchFamily="34" charset="-120"/>
              </a:rPr>
              <a:t>Production Linear Regression model, separate from the waste-generation model.</a:t>
            </a:r>
            <a:endParaRPr lang="en-US" sz="1350" dirty="0"/>
          </a:p>
        </p:txBody>
      </p:sp>
      <p:sp>
        <p:nvSpPr>
          <p:cNvPr id="7" name="Text 5"/>
          <p:cNvSpPr/>
          <p:nvPr/>
        </p:nvSpPr>
        <p:spPr>
          <a:xfrm>
            <a:off x="761981" y="2623542"/>
            <a:ext cx="5029074" cy="728960"/>
          </a:xfrm>
          <a:prstGeom prst="rect">
            <a:avLst/>
          </a:prstGeom>
          <a:noFill/>
          <a:ln/>
        </p:spPr>
        <p:txBody>
          <a:bodyPr wrap="square" lIns="0" tIns="0" rIns="0" bIns="0" rtlCol="0" anchor="t">
            <a:normAutofit/>
          </a:bodyPr>
          <a:lstStyle/>
          <a:p>
            <a:pPr algn="l" marL="274320" indent="-274320">
              <a:lnSpc>
                <a:spcPct val="102000"/>
              </a:lnSpc>
              <a:buSzPct val="100000"/>
              <a:buChar char="•"/>
            </a:pPr>
            <a:r>
              <a:rPr lang="en-US" sz="1350" dirty="0">
                <a:solidFill>
                  <a:srgbClr val="000000"/>
                </a:solidFill>
                <a:latin typeface="Inter Medium" pitchFamily="34" charset="0"/>
                <a:ea typeface="Inter Medium" pitchFamily="34" charset="-122"/>
                <a:cs typeface="Inter Medium" pitchFamily="34" charset="-120"/>
              </a:rPr>
              <a:t>MAE: 3.2084 percentage points</a:t>
            </a:r>
            <a:endParaRPr lang="en-US" sz="1350" dirty="0"/>
          </a:p>
          <a:p>
            <a:pPr algn="l" marL="274320" indent="-274320">
              <a:lnSpc>
                <a:spcPct val="102000"/>
              </a:lnSpc>
              <a:buSzPct val="100000"/>
              <a:buChar char="•"/>
            </a:pPr>
            <a:r>
              <a:rPr lang="en-US" sz="1350" dirty="0">
                <a:solidFill>
                  <a:srgbClr val="000000"/>
                </a:solidFill>
                <a:latin typeface="Inter Medium" pitchFamily="34" charset="0"/>
                <a:ea typeface="Inter Medium" pitchFamily="34" charset="-122"/>
                <a:cs typeface="Inter Medium" pitchFamily="34" charset="-120"/>
              </a:rPr>
              <a:t>RMSE: 4.0075 percentage points</a:t>
            </a:r>
            <a:endParaRPr lang="en-US" sz="1350" dirty="0"/>
          </a:p>
          <a:p>
            <a:pPr algn="l" marL="274320" indent="-274320">
              <a:lnSpc>
                <a:spcPct val="102000"/>
              </a:lnSpc>
              <a:buSzPct val="100000"/>
              <a:buChar char="•"/>
            </a:pPr>
            <a:r>
              <a:rPr lang="en-US" sz="1350" dirty="0">
                <a:solidFill>
                  <a:srgbClr val="000000"/>
                </a:solidFill>
                <a:latin typeface="Inter Medium" pitchFamily="34" charset="0"/>
                <a:ea typeface="Inter Medium" pitchFamily="34" charset="-122"/>
                <a:cs typeface="Inter Medium" pitchFamily="34" charset="-120"/>
              </a:rPr>
              <a:t>R²: 0.9193</a:t>
            </a:r>
            <a:endParaRPr lang="en-US" sz="1350" dirty="0"/>
          </a:p>
        </p:txBody>
      </p:sp>
      <p:sp>
        <p:nvSpPr>
          <p:cNvPr id="8" name="Shape 6"/>
          <p:cNvSpPr/>
          <p:nvPr/>
        </p:nvSpPr>
        <p:spPr>
          <a:xfrm>
            <a:off x="6248244" y="1457325"/>
            <a:ext cx="5333867" cy="2199779"/>
          </a:xfrm>
          <a:prstGeom prst="rect">
            <a:avLst/>
          </a:prstGeom>
          <a:solidFill>
            <a:srgbClr val="047857"/>
          </a:solidFill>
          <a:ln/>
        </p:spPr>
      </p:sp>
      <p:sp>
        <p:nvSpPr>
          <p:cNvPr id="9" name="Text 7"/>
          <p:cNvSpPr/>
          <p:nvPr/>
        </p:nvSpPr>
        <p:spPr>
          <a:xfrm>
            <a:off x="6400640" y="1619054"/>
            <a:ext cx="5029074" cy="400844"/>
          </a:xfrm>
          <a:prstGeom prst="rect">
            <a:avLst/>
          </a:prstGeom>
          <a:noFill/>
          <a:ln/>
        </p:spPr>
        <p:txBody>
          <a:bodyPr wrap="none" lIns="0" tIns="0" rIns="0" bIns="0" rtlCol="0" anchor="t"/>
          <a:lstStyle/>
          <a:p>
            <a:pPr algn="l" indent="0" marL="0">
              <a:lnSpc>
                <a:spcPct val="104000"/>
              </a:lnSpc>
              <a:buNone/>
            </a:pPr>
            <a:r>
              <a:rPr lang="en-US" sz="2500" dirty="0">
                <a:solidFill>
                  <a:srgbClr val="FFFFFF"/>
                </a:solidFill>
                <a:latin typeface="DM Sans SemiBold" pitchFamily="34" charset="0"/>
                <a:ea typeface="DM Sans SemiBold" pitchFamily="34" charset="-122"/>
                <a:cs typeface="DM Sans SemiBold" pitchFamily="34" charset="-120"/>
              </a:rPr>
              <a:t>Recycling calculations</a:t>
            </a:r>
            <a:endParaRPr lang="en-US" sz="2500" dirty="0"/>
          </a:p>
        </p:txBody>
      </p:sp>
      <p:sp>
        <p:nvSpPr>
          <p:cNvPr id="10" name="Text 8"/>
          <p:cNvSpPr/>
          <p:nvPr/>
        </p:nvSpPr>
        <p:spPr>
          <a:xfrm>
            <a:off x="6400640" y="2110383"/>
            <a:ext cx="5029074" cy="674489"/>
          </a:xfrm>
          <a:prstGeom prst="rect">
            <a:avLst/>
          </a:prstGeom>
          <a:noFill/>
          <a:ln/>
        </p:spPr>
        <p:txBody>
          <a:bodyPr wrap="square" lIns="0" tIns="0" rIns="0" bIns="0" rtlCol="0" anchor="t">
            <a:normAutofit/>
          </a:bodyPr>
          <a:lstStyle/>
          <a:p>
            <a:pPr algn="l" marL="274320" indent="-274320">
              <a:lnSpc>
                <a:spcPct val="102000"/>
              </a:lnSpc>
              <a:buSzPct val="100000"/>
              <a:buChar char="•"/>
            </a:pPr>
            <a:r>
              <a:rPr lang="en-US" sz="1350" dirty="0">
                <a:solidFill>
                  <a:srgbClr val="FFFFFF"/>
                </a:solidFill>
                <a:latin typeface="Inter Medium" pitchFamily="34" charset="0"/>
                <a:ea typeface="Inter Medium" pitchFamily="34" charset="-122"/>
                <a:cs typeface="Inter Medium" pitchFamily="34" charset="-120"/>
              </a:rPr>
              <a:t>Recyclable Waste = Predicted Waste × Predicted Recycling Rate / 100</a:t>
            </a:r>
            <a:endParaRPr lang="en-US" sz="1350" dirty="0"/>
          </a:p>
          <a:p>
            <a:pPr algn="l" marL="274320" indent="-274320">
              <a:lnSpc>
                <a:spcPct val="102000"/>
              </a:lnSpc>
              <a:buSzPct val="100000"/>
              <a:buChar char="•"/>
            </a:pPr>
            <a:r>
              <a:rPr lang="en-US" sz="1350" dirty="0">
                <a:solidFill>
                  <a:srgbClr val="FFFFFF"/>
                </a:solidFill>
                <a:latin typeface="Inter Medium" pitchFamily="34" charset="0"/>
                <a:ea typeface="Inter Medium" pitchFamily="34" charset="-122"/>
                <a:cs typeface="Inter Medium" pitchFamily="34" charset="-120"/>
              </a:rPr>
              <a:t>Residual Waste = Predicted Waste − Recyclable Waste</a:t>
            </a:r>
            <a:endParaRPr lang="en-US" sz="1350" dirty="0"/>
          </a:p>
        </p:txBody>
      </p:sp>
      <p:sp>
        <p:nvSpPr>
          <p:cNvPr id="11" name="Text 9"/>
          <p:cNvSpPr/>
          <p:nvPr/>
        </p:nvSpPr>
        <p:spPr>
          <a:xfrm>
            <a:off x="6400640" y="2894907"/>
            <a:ext cx="5029074" cy="620018"/>
          </a:xfrm>
          <a:prstGeom prst="rect">
            <a:avLst/>
          </a:prstGeom>
          <a:noFill/>
          <a:ln/>
        </p:spPr>
        <p:txBody>
          <a:bodyPr wrap="square" lIns="0" tIns="0" rIns="0" bIns="0" rtlCol="0" anchor="t">
            <a:normAutofit/>
          </a:bodyPr>
          <a:lstStyle/>
          <a:p>
            <a:pPr algn="l" indent="0" marL="0">
              <a:lnSpc>
                <a:spcPct val="102000"/>
              </a:lnSpc>
              <a:buNone/>
            </a:pPr>
            <a:r>
              <a:rPr lang="en-US" sz="1350" dirty="0">
                <a:solidFill>
                  <a:srgbClr val="FFFFFF"/>
                </a:solidFill>
                <a:latin typeface="Inter Medium" pitchFamily="34" charset="0"/>
                <a:ea typeface="Inter Medium" pitchFamily="34" charset="-122"/>
                <a:cs typeface="Inter Medium" pitchFamily="34" charset="-120"/>
              </a:rPr>
              <a:t>Sample scenario (illustrative): 44.9 tons/day predicted waste at a 39.1% recycling rate gives about 17.6 tons/day recyclable and 27.3 tons/day residual waste.</a:t>
            </a:r>
            <a:endParaRPr lang="en-US" sz="1350" dirty="0"/>
          </a:p>
        </p:txBody>
      </p:sp>
      <p:pic>
        <p:nvPicPr>
          <p:cNvPr id="12" name="Image 0" descr="preencoded.png">    </p:cNvPr>
          <p:cNvPicPr>
            <a:picLocks noChangeAspect="1"/>
          </p:cNvPicPr>
          <p:nvPr/>
        </p:nvPicPr>
        <p:blipFill>
          <a:blip r:embed="rId1"/>
          <a:stretch>
            <a:fillRect/>
          </a:stretch>
        </p:blipFill>
        <p:spPr>
          <a:xfrm>
            <a:off x="609585" y="3838674"/>
            <a:ext cx="4423260" cy="24129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796429"/>
          </a:xfrm>
          <a:prstGeom prst="rect">
            <a:avLst/>
          </a:prstGeom>
          <a:solidFill>
            <a:srgbClr val="102A43"/>
          </a:solidFill>
          <a:ln/>
        </p:spPr>
      </p:sp>
      <p:sp>
        <p:nvSpPr>
          <p:cNvPr id="3" name="Text 1"/>
          <p:cNvSpPr/>
          <p:nvPr/>
        </p:nvSpPr>
        <p:spPr>
          <a:xfrm>
            <a:off x="152396" y="162849"/>
            <a:ext cx="11886903" cy="491629"/>
          </a:xfrm>
          <a:prstGeom prst="rect">
            <a:avLst/>
          </a:prstGeom>
          <a:noFill/>
          <a:ln/>
        </p:spPr>
        <p:txBody>
          <a:bodyPr wrap="none" lIns="0" tIns="0" rIns="0" bIns="0" rtlCol="0" anchor="t"/>
          <a:lstStyle/>
          <a:p>
            <a:pPr algn="l" indent="0" marL="0">
              <a:lnSpc>
                <a:spcPct val="104000"/>
              </a:lnSpc>
              <a:buNone/>
            </a:pPr>
            <a:r>
              <a:rPr lang="en-US" sz="3100" dirty="0">
                <a:solidFill>
                  <a:srgbClr val="FFFFFF"/>
                </a:solidFill>
                <a:latin typeface="DM Sans SemiBold" pitchFamily="34" charset="0"/>
                <a:ea typeface="DM Sans SemiBold" pitchFamily="34" charset="-122"/>
                <a:cs typeface="DM Sans SemiBold" pitchFamily="34" charset="-120"/>
              </a:rPr>
              <a:t>Dashboard, applications, limitations, and future scope</a:t>
            </a:r>
            <a:endParaRPr lang="en-US" sz="3100" dirty="0"/>
          </a:p>
        </p:txBody>
      </p:sp>
      <p:sp>
        <p:nvSpPr>
          <p:cNvPr id="4" name="Shape 2"/>
          <p:cNvSpPr/>
          <p:nvPr/>
        </p:nvSpPr>
        <p:spPr>
          <a:xfrm>
            <a:off x="609585" y="1863229"/>
            <a:ext cx="5333867" cy="1954411"/>
          </a:xfrm>
          <a:prstGeom prst="rect">
            <a:avLst/>
          </a:prstGeom>
          <a:solidFill>
            <a:srgbClr val="ECFDF5"/>
          </a:solidFill>
          <a:ln/>
        </p:spPr>
      </p:sp>
      <p:sp>
        <p:nvSpPr>
          <p:cNvPr id="5" name="Text 3"/>
          <p:cNvSpPr/>
          <p:nvPr/>
        </p:nvSpPr>
        <p:spPr>
          <a:xfrm>
            <a:off x="761981" y="2024921"/>
            <a:ext cx="5029074" cy="362843"/>
          </a:xfrm>
          <a:prstGeom prst="rect">
            <a:avLst/>
          </a:prstGeom>
          <a:noFill/>
          <a:ln/>
        </p:spPr>
        <p:txBody>
          <a:bodyPr wrap="none" lIns="0" tIns="0" rIns="0" bIns="0" rtlCol="0" anchor="t"/>
          <a:lstStyle/>
          <a:p>
            <a:pPr algn="l" indent="0" marL="0">
              <a:lnSpc>
                <a:spcPct val="104000"/>
              </a:lnSpc>
              <a:buNone/>
            </a:pPr>
            <a:r>
              <a:rPr lang="en-US" sz="2300" dirty="0">
                <a:solidFill>
                  <a:srgbClr val="000000"/>
                </a:solidFill>
                <a:latin typeface="DM Sans SemiBold" pitchFamily="34" charset="0"/>
                <a:ea typeface="DM Sans SemiBold" pitchFamily="34" charset="-122"/>
                <a:cs typeface="DM Sans SemiBold" pitchFamily="34" charset="-120"/>
              </a:rPr>
              <a:t>Dashboard and applications</a:t>
            </a:r>
            <a:endParaRPr lang="en-US" sz="2300" dirty="0"/>
          </a:p>
        </p:txBody>
      </p:sp>
      <p:sp>
        <p:nvSpPr>
          <p:cNvPr id="6" name="Text 4"/>
          <p:cNvSpPr/>
          <p:nvPr/>
        </p:nvSpPr>
        <p:spPr>
          <a:xfrm>
            <a:off x="761981" y="2460327"/>
            <a:ext cx="5029074" cy="1204913"/>
          </a:xfrm>
          <a:prstGeom prst="rect">
            <a:avLst/>
          </a:prstGeom>
          <a:noFill/>
          <a:ln/>
        </p:spPr>
        <p:txBody>
          <a:bodyPr wrap="square" lIns="0" tIns="0" rIns="0" bIns="0" rtlCol="0" anchor="t">
            <a:normAutofit/>
          </a:bodyPr>
          <a:lstStyle/>
          <a:p>
            <a:pPr algn="l" marL="243840" indent="-243840">
              <a:lnSpc>
                <a:spcPct val="97000"/>
              </a:lnSpc>
              <a:buSzPct val="100000"/>
              <a:buChar char="•"/>
            </a:pPr>
            <a:r>
              <a:rPr lang="en-US" sz="1200" dirty="0">
                <a:solidFill>
                  <a:srgbClr val="000000"/>
                </a:solidFill>
                <a:latin typeface="Inter Medium" pitchFamily="34" charset="0"/>
                <a:ea typeface="Inter Medium" pitchFamily="34" charset="-122"/>
                <a:cs typeface="Inter Medium" pitchFamily="34" charset="-120"/>
              </a:rPr>
              <a:t>Streamlit Smart Waste Intelligence dashboard with filters, charts, CSV upload, and batch analysis.</a:t>
            </a:r>
            <a:endParaRPr lang="en-US" sz="1200" dirty="0"/>
          </a:p>
          <a:p>
            <a:pPr algn="l" marL="243840" indent="-243840">
              <a:lnSpc>
                <a:spcPct val="97000"/>
              </a:lnSpc>
              <a:buSzPct val="100000"/>
              <a:buChar char="•"/>
            </a:pPr>
            <a:r>
              <a:rPr lang="en-US" sz="1200" dirty="0">
                <a:solidFill>
                  <a:srgbClr val="000000"/>
                </a:solidFill>
                <a:latin typeface="Inter Medium" pitchFamily="34" charset="0"/>
                <a:ea typeface="Inter Medium" pitchFamily="34" charset="-122"/>
                <a:cs typeface="Inter Medium" pitchFamily="34" charset="-120"/>
              </a:rPr>
              <a:t>Illustrative mockup, not a live screenshot.</a:t>
            </a:r>
            <a:endParaRPr lang="en-US" sz="1200" dirty="0"/>
          </a:p>
          <a:p>
            <a:pPr algn="l" marL="243840" indent="-243840">
              <a:lnSpc>
                <a:spcPct val="97000"/>
              </a:lnSpc>
              <a:buSzPct val="100000"/>
              <a:buChar char="•"/>
            </a:pPr>
            <a:r>
              <a:rPr lang="en-US" sz="1200" dirty="0">
                <a:solidFill>
                  <a:srgbClr val="000000"/>
                </a:solidFill>
                <a:latin typeface="Inter Medium" pitchFamily="34" charset="0"/>
                <a:ea typeface="Inter Medium" pitchFamily="34" charset="-122"/>
                <a:cs typeface="Inter Medium" pitchFamily="34" charset="-120"/>
              </a:rPr>
              <a:t>Used by municipalities and recycling centers.</a:t>
            </a:r>
            <a:endParaRPr lang="en-US" sz="1200" dirty="0"/>
          </a:p>
          <a:p>
            <a:pPr algn="l" marL="243840" indent="-243840">
              <a:lnSpc>
                <a:spcPct val="97000"/>
              </a:lnSpc>
              <a:buSzPct val="100000"/>
              <a:buChar char="•"/>
            </a:pPr>
            <a:r>
              <a:rPr lang="en-US" sz="1200" dirty="0">
                <a:solidFill>
                  <a:srgbClr val="000000"/>
                </a:solidFill>
                <a:latin typeface="Inter Medium" pitchFamily="34" charset="0"/>
                <a:ea typeface="Inter Medium" pitchFamily="34" charset="-122"/>
                <a:cs typeface="Inter Medium" pitchFamily="34" charset="-120"/>
              </a:rPr>
              <a:t>Future: waste forecasting, anomaly detection, what-if simulation, priority recommendations.</a:t>
            </a:r>
            <a:endParaRPr lang="en-US" sz="1200" dirty="0"/>
          </a:p>
        </p:txBody>
      </p:sp>
      <p:sp>
        <p:nvSpPr>
          <p:cNvPr id="7" name="Shape 5"/>
          <p:cNvSpPr/>
          <p:nvPr/>
        </p:nvSpPr>
        <p:spPr>
          <a:xfrm>
            <a:off x="6248244" y="1863229"/>
            <a:ext cx="5333867" cy="1954411"/>
          </a:xfrm>
          <a:prstGeom prst="rect">
            <a:avLst/>
          </a:prstGeom>
          <a:solidFill>
            <a:srgbClr val="FEF3C7"/>
          </a:solidFill>
          <a:ln/>
        </p:spPr>
      </p:sp>
      <p:sp>
        <p:nvSpPr>
          <p:cNvPr id="8" name="Text 6"/>
          <p:cNvSpPr/>
          <p:nvPr/>
        </p:nvSpPr>
        <p:spPr>
          <a:xfrm>
            <a:off x="6400640" y="2024921"/>
            <a:ext cx="5029074" cy="362843"/>
          </a:xfrm>
          <a:prstGeom prst="rect">
            <a:avLst/>
          </a:prstGeom>
          <a:noFill/>
          <a:ln/>
        </p:spPr>
        <p:txBody>
          <a:bodyPr wrap="none" lIns="0" tIns="0" rIns="0" bIns="0" rtlCol="0" anchor="t"/>
          <a:lstStyle/>
          <a:p>
            <a:pPr algn="l" indent="0" marL="0">
              <a:lnSpc>
                <a:spcPct val="104000"/>
              </a:lnSpc>
              <a:buNone/>
            </a:pPr>
            <a:r>
              <a:rPr lang="en-US" sz="2300" dirty="0">
                <a:solidFill>
                  <a:srgbClr val="000000"/>
                </a:solidFill>
                <a:latin typeface="DM Sans SemiBold" pitchFamily="34" charset="0"/>
                <a:ea typeface="DM Sans SemiBold" pitchFamily="34" charset="-122"/>
                <a:cs typeface="DM Sans SemiBold" pitchFamily="34" charset="-120"/>
              </a:rPr>
              <a:t>Limitations and future scope</a:t>
            </a:r>
            <a:endParaRPr lang="en-US" sz="2300" dirty="0"/>
          </a:p>
        </p:txBody>
      </p:sp>
      <p:sp>
        <p:nvSpPr>
          <p:cNvPr id="9" name="Text 7"/>
          <p:cNvSpPr/>
          <p:nvPr/>
        </p:nvSpPr>
        <p:spPr>
          <a:xfrm>
            <a:off x="6400640" y="2460327"/>
            <a:ext cx="5029074" cy="624780"/>
          </a:xfrm>
          <a:prstGeom prst="rect">
            <a:avLst/>
          </a:prstGeom>
          <a:noFill/>
          <a:ln/>
        </p:spPr>
        <p:txBody>
          <a:bodyPr wrap="square" lIns="0" tIns="0" rIns="0" bIns="0" rtlCol="0" anchor="t">
            <a:normAutofit/>
          </a:bodyPr>
          <a:lstStyle/>
          <a:p>
            <a:pPr algn="l" marL="243840" indent="-243840">
              <a:lnSpc>
                <a:spcPct val="97000"/>
              </a:lnSpc>
              <a:buSzPct val="100000"/>
              <a:buChar char="•"/>
            </a:pPr>
            <a:r>
              <a:rPr lang="en-US" sz="1200" dirty="0">
                <a:solidFill>
                  <a:srgbClr val="000000"/>
                </a:solidFill>
                <a:latin typeface="Inter Medium" pitchFamily="34" charset="0"/>
                <a:ea typeface="Inter Medium" pitchFamily="34" charset="-122"/>
                <a:cs typeface="Inter Medium" pitchFamily="34" charset="-120"/>
              </a:rPr>
              <a:t>Limitations: data quality and generalization to new locations.</a:t>
            </a:r>
            <a:endParaRPr lang="en-US" sz="1200" dirty="0"/>
          </a:p>
          <a:p>
            <a:pPr algn="l" marL="243840" indent="-243840">
              <a:lnSpc>
                <a:spcPct val="97000"/>
              </a:lnSpc>
              <a:buSzPct val="100000"/>
              <a:buChar char="•"/>
            </a:pPr>
            <a:r>
              <a:rPr lang="en-US" sz="1200" dirty="0">
                <a:solidFill>
                  <a:srgbClr val="000000"/>
                </a:solidFill>
                <a:latin typeface="Inter Medium" pitchFamily="34" charset="0"/>
                <a:ea typeface="Inter Medium" pitchFamily="34" charset="-122"/>
                <a:cs typeface="Inter Medium" pitchFamily="34" charset="-120"/>
              </a:rPr>
              <a:t>Future: additional datasets and periodic model retraining.</a:t>
            </a:r>
            <a:endParaRPr lang="en-US" sz="1200" dirty="0"/>
          </a:p>
          <a:p>
            <a:pPr algn="l" marL="243840" indent="-243840">
              <a:lnSpc>
                <a:spcPct val="97000"/>
              </a:lnSpc>
              <a:buSzPct val="100000"/>
              <a:buChar char="•"/>
            </a:pPr>
            <a:r>
              <a:rPr lang="en-US" sz="1200" dirty="0">
                <a:solidFill>
                  <a:srgbClr val="000000"/>
                </a:solidFill>
                <a:latin typeface="Inter Medium" pitchFamily="34" charset="0"/>
                <a:ea typeface="Inter Medium" pitchFamily="34" charset="-122"/>
                <a:cs typeface="Inter Medium" pitchFamily="34" charset="-120"/>
              </a:rPr>
              <a:t>Real-time IoT integration is planned, not yet implemented.</a:t>
            </a:r>
            <a:endParaRPr lang="en-US" sz="1200" dirty="0"/>
          </a:p>
        </p:txBody>
      </p:sp>
      <p:pic>
        <p:nvPicPr>
          <p:cNvPr id="10" name="Image 0" descr="preencoded.png">    </p:cNvPr>
          <p:cNvPicPr>
            <a:picLocks noChangeAspect="1"/>
          </p:cNvPicPr>
          <p:nvPr/>
        </p:nvPicPr>
        <p:blipFill>
          <a:blip r:embed="rId1"/>
          <a:stretch>
            <a:fillRect/>
          </a:stretch>
        </p:blipFill>
        <p:spPr>
          <a:xfrm>
            <a:off x="609585" y="3966468"/>
            <a:ext cx="4571886" cy="228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2394744"/>
          </a:xfrm>
          <a:prstGeom prst="rect">
            <a:avLst/>
          </a:prstGeom>
          <a:solidFill>
            <a:srgbClr val="102A43"/>
          </a:solidFill>
          <a:ln/>
        </p:spPr>
      </p:sp>
      <p:sp>
        <p:nvSpPr>
          <p:cNvPr id="3" name="Text 1"/>
          <p:cNvSpPr/>
          <p:nvPr/>
        </p:nvSpPr>
        <p:spPr>
          <a:xfrm>
            <a:off x="152396" y="162322"/>
            <a:ext cx="11886903" cy="569813"/>
          </a:xfrm>
          <a:prstGeom prst="rect">
            <a:avLst/>
          </a:prstGeom>
          <a:noFill/>
          <a:ln/>
        </p:spPr>
        <p:txBody>
          <a:bodyPr wrap="none" lIns="0" tIns="0" rIns="0" bIns="0" rtlCol="0" anchor="t"/>
          <a:lstStyle/>
          <a:p>
            <a:pPr algn="l" indent="0" marL="0">
              <a:lnSpc>
                <a:spcPct val="104000"/>
              </a:lnSpc>
              <a:buNone/>
            </a:pPr>
            <a:r>
              <a:rPr lang="en-US" sz="3600" dirty="0">
                <a:solidFill>
                  <a:srgbClr val="FFFFFF"/>
                </a:solidFill>
                <a:latin typeface="DM Sans SemiBold" pitchFamily="34" charset="0"/>
                <a:ea typeface="DM Sans SemiBold" pitchFamily="34" charset="-122"/>
                <a:cs typeface="DM Sans SemiBold" pitchFamily="34" charset="-120"/>
              </a:rPr>
              <a:t>Conclusion and Q&amp;A</a:t>
            </a:r>
            <a:endParaRPr lang="en-US" sz="3600" dirty="0"/>
          </a:p>
        </p:txBody>
      </p:sp>
      <p:sp>
        <p:nvSpPr>
          <p:cNvPr id="4" name="Shape 2"/>
          <p:cNvSpPr/>
          <p:nvPr/>
        </p:nvSpPr>
        <p:spPr>
          <a:xfrm>
            <a:off x="0" y="2851944"/>
            <a:ext cx="12191695" cy="4006056"/>
          </a:xfrm>
          <a:prstGeom prst="rect">
            <a:avLst/>
          </a:prstGeom>
          <a:solidFill>
            <a:srgbClr val="ECFDF5"/>
          </a:solidFill>
          <a:ln/>
        </p:spPr>
      </p:sp>
      <p:sp>
        <p:nvSpPr>
          <p:cNvPr id="5" name="Shape 3"/>
          <p:cNvSpPr/>
          <p:nvPr/>
        </p:nvSpPr>
        <p:spPr>
          <a:xfrm>
            <a:off x="152396" y="3048794"/>
            <a:ext cx="3922515" cy="38100"/>
          </a:xfrm>
          <a:prstGeom prst="roundRect">
            <a:avLst>
              <a:gd name="adj" fmla="val 49999"/>
            </a:avLst>
          </a:prstGeom>
          <a:solidFill>
            <a:srgbClr val="2D7A3E"/>
          </a:solidFill>
          <a:ln/>
        </p:spPr>
      </p:sp>
      <p:sp>
        <p:nvSpPr>
          <p:cNvPr id="6" name="Text 4"/>
          <p:cNvSpPr/>
          <p:nvPr/>
        </p:nvSpPr>
        <p:spPr>
          <a:xfrm>
            <a:off x="152396" y="3337719"/>
            <a:ext cx="12039299" cy="222250"/>
          </a:xfrm>
          <a:prstGeom prst="rect">
            <a:avLst/>
          </a:prstGeom>
          <a:noFill/>
          <a:ln/>
        </p:spPr>
        <p:txBody>
          <a:bodyPr wrap="none" lIns="0" tIns="0" rIns="0" bIns="0" rtlCol="0" anchor="t"/>
          <a:lstStyle/>
          <a:p>
            <a:pPr algn="l" indent="0" marL="0">
              <a:lnSpc>
                <a:spcPct val="104000"/>
              </a:lnSpc>
              <a:buNone/>
            </a:pPr>
            <a:r>
              <a:rPr lang="en-US" sz="1400" dirty="0">
                <a:solidFill>
                  <a:srgbClr val="000000"/>
                </a:solidFill>
                <a:latin typeface="Inter Medium" pitchFamily="34" charset="0"/>
                <a:ea typeface="Inter Medium" pitchFamily="34" charset="-122"/>
                <a:cs typeface="Inter Medium" pitchFamily="34" charset="-120"/>
              </a:rPr>
              <a:t>The project shows how machine learning can support smarter waste-management decisions, using 25,203 records from Indian cities.</a:t>
            </a:r>
            <a:endParaRPr lang="en-US" sz="1400" dirty="0"/>
          </a:p>
        </p:txBody>
      </p:sp>
      <p:sp>
        <p:nvSpPr>
          <p:cNvPr id="7" name="Text 5"/>
          <p:cNvSpPr/>
          <p:nvPr/>
        </p:nvSpPr>
        <p:spPr>
          <a:xfrm>
            <a:off x="152396" y="3753644"/>
            <a:ext cx="11886903" cy="1231106"/>
          </a:xfrm>
          <a:prstGeom prst="rect">
            <a:avLst/>
          </a:prstGeom>
          <a:noFill/>
          <a:ln/>
        </p:spPr>
        <p:txBody>
          <a:bodyPr wrap="square" lIns="0" tIns="0" rIns="0" bIns="0" rtlCol="0" anchor="t">
            <a:normAutofit/>
          </a:bodyPr>
          <a:lstStyle/>
          <a:p>
            <a:pPr algn="l" marL="284480" indent="-284480">
              <a:lnSpc>
                <a:spcPct val="104000"/>
              </a:lnSpc>
              <a:buSzPct val="100000"/>
              <a:buChar char="•"/>
            </a:pPr>
            <a:r>
              <a:rPr lang="en-US" sz="1400" dirty="0">
                <a:solidFill>
                  <a:srgbClr val="000000"/>
                </a:solidFill>
                <a:latin typeface="Inter Medium" pitchFamily="34" charset="0"/>
                <a:ea typeface="Inter Medium" pitchFamily="34" charset="-122"/>
                <a:cs typeface="Inter Medium" pitchFamily="34" charset="-120"/>
              </a:rPr>
              <a:t>Random Forest delivered the best waste-generation performance: MAE 10.3137, RMSE 36.2488, R² 0.9957.</a:t>
            </a:r>
            <a:endParaRPr lang="en-US" sz="1400" dirty="0"/>
          </a:p>
          <a:p>
            <a:pPr algn="l" marL="284480" indent="-284480">
              <a:lnSpc>
                <a:spcPct val="104000"/>
              </a:lnSpc>
              <a:buSzPct val="100000"/>
              <a:buChar char="•"/>
            </a:pPr>
            <a:r>
              <a:rPr lang="en-US" sz="1400" dirty="0">
                <a:solidFill>
                  <a:srgbClr val="000000"/>
                </a:solidFill>
                <a:latin typeface="Inter Medium" pitchFamily="34" charset="0"/>
                <a:ea typeface="Inter Medium" pitchFamily="34" charset="-122"/>
                <a:cs typeface="Inter Medium" pitchFamily="34" charset="-120"/>
              </a:rPr>
              <a:t>The separate Linear Regression recycling-rate model achieved MAE 3.2084 percentage points, RMSE 4.0075 percentage points, R² 0.9193.</a:t>
            </a:r>
            <a:endParaRPr lang="en-US" sz="1400" dirty="0"/>
          </a:p>
          <a:p>
            <a:pPr algn="l" marL="284480" indent="-284480">
              <a:lnSpc>
                <a:spcPct val="104000"/>
              </a:lnSpc>
              <a:buSzPct val="100000"/>
              <a:buChar char="•"/>
            </a:pPr>
            <a:r>
              <a:rPr lang="en-US" sz="1400" dirty="0">
                <a:solidFill>
                  <a:srgbClr val="000000"/>
                </a:solidFill>
                <a:latin typeface="Inter Medium" pitchFamily="34" charset="0"/>
                <a:ea typeface="Inter Medium" pitchFamily="34" charset="-122"/>
                <a:cs typeface="Inter Medium" pitchFamily="34" charset="-120"/>
              </a:rPr>
              <a:t>Prediction, recyclable and residual waste calculation, priority analysis, and dashboard insights help municipalities and recycling centers plan with better evidence.</a:t>
            </a:r>
            <a:endParaRPr lang="en-US" sz="1400" dirty="0"/>
          </a:p>
        </p:txBody>
      </p:sp>
      <p:sp>
        <p:nvSpPr>
          <p:cNvPr id="8" name="Text 6"/>
          <p:cNvSpPr/>
          <p:nvPr/>
        </p:nvSpPr>
        <p:spPr>
          <a:xfrm>
            <a:off x="152396" y="5191125"/>
            <a:ext cx="12039299" cy="222250"/>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Key takeaway:</a:t>
            </a:r>
            <a:pPr algn="l" indent="0" marL="0">
              <a:lnSpc>
                <a:spcPct val="104000"/>
              </a:lnSpc>
              <a:buNone/>
            </a:pPr>
            <a:r>
              <a:rPr lang="en-US" sz="1400" dirty="0">
                <a:solidFill>
                  <a:srgbClr val="000000"/>
                </a:solidFill>
                <a:latin typeface="Inter Medium" pitchFamily="34" charset="0"/>
                <a:ea typeface="Inter Medium" pitchFamily="34" charset="-122"/>
                <a:cs typeface="Inter Medium" pitchFamily="34" charset="-120"/>
              </a:rPr>
              <a:t> predict earlier, recover more, and reduce landfill dependence.</a:t>
            </a:r>
            <a:endParaRPr lang="en-US" sz="1400" dirty="0"/>
          </a:p>
        </p:txBody>
      </p:sp>
      <p:sp>
        <p:nvSpPr>
          <p:cNvPr id="9" name="Text 7"/>
          <p:cNvSpPr/>
          <p:nvPr/>
        </p:nvSpPr>
        <p:spPr>
          <a:xfrm>
            <a:off x="152396" y="5821363"/>
            <a:ext cx="11886903" cy="476250"/>
          </a:xfrm>
          <a:prstGeom prst="rect">
            <a:avLst/>
          </a:prstGeom>
          <a:noFill/>
          <a:ln/>
        </p:spPr>
        <p:txBody>
          <a:bodyPr wrap="none" lIns="0" tIns="0" rIns="0" bIns="0" rtlCol="0" anchor="t"/>
          <a:lstStyle/>
          <a:p>
            <a:pPr algn="l" indent="0" marL="0">
              <a:lnSpc>
                <a:spcPct val="104000"/>
              </a:lnSpc>
              <a:buNone/>
            </a:pPr>
            <a:r>
              <a:rPr lang="en-US" sz="3000" dirty="0">
                <a:solidFill>
                  <a:srgbClr val="000000"/>
                </a:solidFill>
                <a:latin typeface="DM Sans SemiBold" pitchFamily="34" charset="0"/>
                <a:ea typeface="DM Sans SemiBold" pitchFamily="34" charset="-122"/>
                <a:cs typeface="DM Sans SemiBold" pitchFamily="34" charset="-120"/>
              </a:rPr>
              <a:t>Thank You</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2026-10-14T15:22:35Z</dcterms:created>
  <dcterms:modified xsi:type="dcterms:W3CDTF">2026-10-14T15:22:35Z</dcterms:modified>
</cp:coreProperties>
</file>